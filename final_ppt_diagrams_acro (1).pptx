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3"/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22" Type="http://schemas.openxmlformats.org/officeDocument/2006/relationships/font" Target="fonts/CenturyGothic-italic.fntdata"/><Relationship Id="rId21" Type="http://schemas.openxmlformats.org/officeDocument/2006/relationships/font" Target="fonts/CenturyGothic-bold.fntdata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118f3e867_0_4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f118f3e867_0_4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118f3e867_0_47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f118f3e867_0_47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118f3e867_0_5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f118f3e867_0_5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118f3e867_0_58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f118f3e867_0_58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118f3e867_0_63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118f3e867_0_63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118f3e867_0_69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118f3e867_0_69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118f3e867_0_75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f118f3e867_0_75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118f3e867_0_8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f118f3e867_0_8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118f3e867_0_87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f118f3e867_0_87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Times New Roman"/>
              <a:buNone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000"/>
              </a:spcBef>
              <a:spcAft>
                <a:spcPts val="0"/>
              </a:spcAft>
              <a:buSzPts val="2400"/>
              <a:buChar char="🠶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algn="l">
              <a:spcBef>
                <a:spcPts val="1000"/>
              </a:spcBef>
              <a:spcAft>
                <a:spcPts val="0"/>
              </a:spcAft>
              <a:buSzPts val="2000"/>
              <a:buChar char="🠶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 algn="l">
              <a:spcBef>
                <a:spcPts val="1000"/>
              </a:spcBef>
              <a:spcAft>
                <a:spcPts val="0"/>
              </a:spcAft>
              <a:buSzPts val="1600"/>
              <a:buChar char="🠶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algn="l">
              <a:spcBef>
                <a:spcPts val="1000"/>
              </a:spcBef>
              <a:spcAft>
                <a:spcPts val="0"/>
              </a:spcAft>
              <a:buSzPts val="1400"/>
              <a:buChar char="🠶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algn="l">
              <a:spcBef>
                <a:spcPts val="1000"/>
              </a:spcBef>
              <a:spcAft>
                <a:spcPts val="0"/>
              </a:spcAft>
              <a:buSzPts val="1400"/>
              <a:buChar char="🠶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"/>
          <p:cNvSpPr/>
          <p:nvPr/>
        </p:nvSpPr>
        <p:spPr>
          <a:xfrm flipH="1">
            <a:off x="10587856" y="6247184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11222029" y="6338155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5" name="Google Shape;6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5710" y="0"/>
            <a:ext cx="1457325" cy="124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3395" y="-394223"/>
            <a:ext cx="1017037" cy="1808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6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" name="Google Shape;81;p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8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8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1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1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12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3" name="Google Shape;123;p1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1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5" name="Google Shape;135;p14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6" name="Google Shape;136;p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4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0" name="Google Shape;160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ctrTitle"/>
          </p:nvPr>
        </p:nvSpPr>
        <p:spPr>
          <a:xfrm>
            <a:off x="2589213" y="2514600"/>
            <a:ext cx="89154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1" type="subTitle"/>
          </p:nvPr>
        </p:nvSpPr>
        <p:spPr>
          <a:xfrm>
            <a:off x="2589213" y="4777379"/>
            <a:ext cx="89154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0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20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1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1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1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2592925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Times New Roman"/>
              <a:buNone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2589212" y="2133600"/>
            <a:ext cx="89154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000"/>
              </a:spcBef>
              <a:spcAft>
                <a:spcPts val="0"/>
              </a:spcAft>
              <a:buSzPts val="2400"/>
              <a:buChar char="🠶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algn="l">
              <a:spcBef>
                <a:spcPts val="1000"/>
              </a:spcBef>
              <a:spcAft>
                <a:spcPts val="0"/>
              </a:spcAft>
              <a:buSzPts val="2000"/>
              <a:buChar char="🠶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 algn="l">
              <a:spcBef>
                <a:spcPts val="1000"/>
              </a:spcBef>
              <a:spcAft>
                <a:spcPts val="0"/>
              </a:spcAft>
              <a:buSzPts val="1600"/>
              <a:buChar char="🠶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algn="l">
              <a:spcBef>
                <a:spcPts val="1000"/>
              </a:spcBef>
              <a:spcAft>
                <a:spcPts val="0"/>
              </a:spcAft>
              <a:buSzPts val="1400"/>
              <a:buChar char="🠶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algn="l">
              <a:spcBef>
                <a:spcPts val="1000"/>
              </a:spcBef>
              <a:spcAft>
                <a:spcPts val="0"/>
              </a:spcAft>
              <a:buSzPts val="1400"/>
              <a:buChar char="🠶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6" name="Google Shape;216;p22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2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2"/>
          <p:cNvSpPr/>
          <p:nvPr/>
        </p:nvSpPr>
        <p:spPr>
          <a:xfrm flipH="1">
            <a:off x="10587854" y="6247184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p22"/>
          <p:cNvSpPr txBox="1"/>
          <p:nvPr>
            <p:ph idx="12" type="sldNum"/>
          </p:nvPr>
        </p:nvSpPr>
        <p:spPr>
          <a:xfrm>
            <a:off x="11222029" y="6338155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5710" y="0"/>
            <a:ext cx="1457325" cy="124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3395" y="-394223"/>
            <a:ext cx="1017037" cy="1808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2589212" y="2058750"/>
            <a:ext cx="89154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1" type="body"/>
          </p:nvPr>
        </p:nvSpPr>
        <p:spPr>
          <a:xfrm>
            <a:off x="2589212" y="3530129"/>
            <a:ext cx="89154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3"/>
          <p:cNvSpPr/>
          <p:nvPr/>
        </p:nvSpPr>
        <p:spPr>
          <a:xfrm flipH="1" rot="10800000">
            <a:off x="-4189" y="31781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531812" y="3244139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4"/>
          <p:cNvSpPr txBox="1"/>
          <p:nvPr>
            <p:ph idx="1" type="body"/>
          </p:nvPr>
        </p:nvSpPr>
        <p:spPr>
          <a:xfrm>
            <a:off x="2589212" y="2133600"/>
            <a:ext cx="43140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32" name="Google Shape;232;p24"/>
          <p:cNvSpPr txBox="1"/>
          <p:nvPr>
            <p:ph idx="2" type="body"/>
          </p:nvPr>
        </p:nvSpPr>
        <p:spPr>
          <a:xfrm>
            <a:off x="7190747" y="2126222"/>
            <a:ext cx="43140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33" name="Google Shape;233;p24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4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24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24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5"/>
          <p:cNvSpPr txBox="1"/>
          <p:nvPr>
            <p:ph idx="1" type="body"/>
          </p:nvPr>
        </p:nvSpPr>
        <p:spPr>
          <a:xfrm>
            <a:off x="2939373" y="1972703"/>
            <a:ext cx="39927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40" name="Google Shape;240;p25"/>
          <p:cNvSpPr txBox="1"/>
          <p:nvPr>
            <p:ph idx="2" type="body"/>
          </p:nvPr>
        </p:nvSpPr>
        <p:spPr>
          <a:xfrm>
            <a:off x="2589212" y="2548966"/>
            <a:ext cx="43428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41" name="Google Shape;241;p25"/>
          <p:cNvSpPr txBox="1"/>
          <p:nvPr>
            <p:ph idx="3" type="body"/>
          </p:nvPr>
        </p:nvSpPr>
        <p:spPr>
          <a:xfrm>
            <a:off x="7506629" y="1969475"/>
            <a:ext cx="39990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42" name="Google Shape;242;p25"/>
          <p:cNvSpPr txBox="1"/>
          <p:nvPr>
            <p:ph idx="4" type="body"/>
          </p:nvPr>
        </p:nvSpPr>
        <p:spPr>
          <a:xfrm>
            <a:off x="7166957" y="2545738"/>
            <a:ext cx="4338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43" name="Google Shape;243;p25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5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5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p25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589212" y="446088"/>
            <a:ext cx="35052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body"/>
          </p:nvPr>
        </p:nvSpPr>
        <p:spPr>
          <a:xfrm>
            <a:off x="6323012" y="446088"/>
            <a:ext cx="5181600" cy="54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50" name="Google Shape;250;p26"/>
          <p:cNvSpPr txBox="1"/>
          <p:nvPr>
            <p:ph idx="2" type="body"/>
          </p:nvPr>
        </p:nvSpPr>
        <p:spPr>
          <a:xfrm>
            <a:off x="2589212" y="1598613"/>
            <a:ext cx="3505200" cy="4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51" name="Google Shape;251;p26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6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6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26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2589213" y="4800600"/>
            <a:ext cx="8915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7"/>
          <p:cNvSpPr/>
          <p:nvPr>
            <p:ph idx="2" type="pic"/>
          </p:nvPr>
        </p:nvSpPr>
        <p:spPr>
          <a:xfrm>
            <a:off x="2589212" y="634965"/>
            <a:ext cx="8915400" cy="38550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27"/>
          <p:cNvSpPr txBox="1"/>
          <p:nvPr>
            <p:ph idx="1" type="body"/>
          </p:nvPr>
        </p:nvSpPr>
        <p:spPr>
          <a:xfrm>
            <a:off x="2589213" y="5367338"/>
            <a:ext cx="8915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59" name="Google Shape;259;p27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7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/>
          <p:nvPr/>
        </p:nvSpPr>
        <p:spPr>
          <a:xfrm flipH="1" rot="10800000">
            <a:off x="-4189" y="491172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p27"/>
          <p:cNvSpPr txBox="1"/>
          <p:nvPr>
            <p:ph idx="12" type="sldNum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/>
          <p:nvPr>
            <p:ph type="title"/>
          </p:nvPr>
        </p:nvSpPr>
        <p:spPr>
          <a:xfrm>
            <a:off x="2589212" y="609600"/>
            <a:ext cx="8915400" cy="3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8"/>
          <p:cNvSpPr txBox="1"/>
          <p:nvPr>
            <p:ph idx="1" type="body"/>
          </p:nvPr>
        </p:nvSpPr>
        <p:spPr>
          <a:xfrm>
            <a:off x="2589212" y="4354046"/>
            <a:ext cx="89154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6" name="Google Shape;266;p28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8"/>
          <p:cNvSpPr/>
          <p:nvPr/>
        </p:nvSpPr>
        <p:spPr>
          <a:xfrm flipH="1" rot="10800000">
            <a:off x="-4189" y="31781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28"/>
          <p:cNvSpPr txBox="1"/>
          <p:nvPr>
            <p:ph idx="12" type="sldNum"/>
          </p:nvPr>
        </p:nvSpPr>
        <p:spPr>
          <a:xfrm>
            <a:off x="531812" y="3244139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/>
          <p:nvPr>
            <p:ph type="title"/>
          </p:nvPr>
        </p:nvSpPr>
        <p:spPr>
          <a:xfrm>
            <a:off x="2849949" y="609600"/>
            <a:ext cx="83940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9"/>
          <p:cNvSpPr txBox="1"/>
          <p:nvPr>
            <p:ph idx="1" type="body"/>
          </p:nvPr>
        </p:nvSpPr>
        <p:spPr>
          <a:xfrm>
            <a:off x="3275012" y="3505200"/>
            <a:ext cx="753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73" name="Google Shape;273;p29"/>
          <p:cNvSpPr txBox="1"/>
          <p:nvPr>
            <p:ph idx="2" type="body"/>
          </p:nvPr>
        </p:nvSpPr>
        <p:spPr>
          <a:xfrm>
            <a:off x="2589212" y="4354046"/>
            <a:ext cx="89154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4" name="Google Shape;274;p29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29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29"/>
          <p:cNvSpPr/>
          <p:nvPr/>
        </p:nvSpPr>
        <p:spPr>
          <a:xfrm flipH="1" rot="10800000">
            <a:off x="-4189" y="31781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29"/>
          <p:cNvSpPr txBox="1"/>
          <p:nvPr>
            <p:ph idx="12" type="sldNum"/>
          </p:nvPr>
        </p:nvSpPr>
        <p:spPr>
          <a:xfrm>
            <a:off x="531812" y="3244139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2467652" y="648005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11114852" y="2905306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/>
          <p:nvPr>
            <p:ph type="title"/>
          </p:nvPr>
        </p:nvSpPr>
        <p:spPr>
          <a:xfrm>
            <a:off x="2589213" y="2438400"/>
            <a:ext cx="89154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0"/>
          <p:cNvSpPr txBox="1"/>
          <p:nvPr>
            <p:ph idx="1" type="body"/>
          </p:nvPr>
        </p:nvSpPr>
        <p:spPr>
          <a:xfrm>
            <a:off x="2589213" y="5181600"/>
            <a:ext cx="8915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83" name="Google Shape;283;p30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0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0"/>
          <p:cNvSpPr/>
          <p:nvPr/>
        </p:nvSpPr>
        <p:spPr>
          <a:xfrm flipH="1" rot="10800000">
            <a:off x="-4189" y="491172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p30"/>
          <p:cNvSpPr txBox="1"/>
          <p:nvPr>
            <p:ph idx="12" type="sldNum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/>
          <p:nvPr>
            <p:ph type="title"/>
          </p:nvPr>
        </p:nvSpPr>
        <p:spPr>
          <a:xfrm>
            <a:off x="2849949" y="609600"/>
            <a:ext cx="83940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1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90" name="Google Shape;290;p31"/>
          <p:cNvSpPr txBox="1"/>
          <p:nvPr>
            <p:ph idx="2" type="body"/>
          </p:nvPr>
        </p:nvSpPr>
        <p:spPr>
          <a:xfrm>
            <a:off x="2589213" y="5181600"/>
            <a:ext cx="8915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91" name="Google Shape;291;p31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1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1"/>
          <p:cNvSpPr/>
          <p:nvPr/>
        </p:nvSpPr>
        <p:spPr>
          <a:xfrm flipH="1" rot="10800000">
            <a:off x="-4189" y="491172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5" name="Google Shape;295;p31"/>
          <p:cNvSpPr txBox="1"/>
          <p:nvPr/>
        </p:nvSpPr>
        <p:spPr>
          <a:xfrm>
            <a:off x="2467652" y="648005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96" name="Google Shape;296;p31"/>
          <p:cNvSpPr txBox="1"/>
          <p:nvPr/>
        </p:nvSpPr>
        <p:spPr>
          <a:xfrm>
            <a:off x="11114852" y="2905306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2589212" y="627407"/>
            <a:ext cx="8915400" cy="28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2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300" name="Google Shape;300;p32"/>
          <p:cNvSpPr txBox="1"/>
          <p:nvPr>
            <p:ph idx="2" type="body"/>
          </p:nvPr>
        </p:nvSpPr>
        <p:spPr>
          <a:xfrm>
            <a:off x="2589213" y="5181600"/>
            <a:ext cx="8915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301" name="Google Shape;301;p32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2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2"/>
          <p:cNvSpPr/>
          <p:nvPr/>
        </p:nvSpPr>
        <p:spPr>
          <a:xfrm flipH="1" rot="10800000">
            <a:off x="-4189" y="491172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32"/>
          <p:cNvSpPr txBox="1"/>
          <p:nvPr>
            <p:ph idx="12" type="sldNum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3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308" name="Google Shape;308;p33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3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p33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/>
          <p:nvPr>
            <p:ph type="title"/>
          </p:nvPr>
        </p:nvSpPr>
        <p:spPr>
          <a:xfrm rot="5400000">
            <a:off x="7756613" y="2165505"/>
            <a:ext cx="52839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4"/>
          <p:cNvSpPr txBox="1"/>
          <p:nvPr>
            <p:ph idx="1" type="body"/>
          </p:nvPr>
        </p:nvSpPr>
        <p:spPr>
          <a:xfrm rot="5400000">
            <a:off x="3185762" y="30855"/>
            <a:ext cx="52839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315" name="Google Shape;315;p34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34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4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34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f119654ce8_139_0)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35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35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 (g3f119654ce8_132_0)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6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36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">
  <p:cSld name="Blank (g3f119654ce8_125_0)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7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37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">
  <p:cSld name="Blank (g3f119654ce8_111_0)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8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38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">
  <p:cSld name="Blank (g3f119654ce8_104_0)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39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39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">
  <p:cSld name="Blank (g3f119654ce8_97_0)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0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0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40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">
  <p:cSld name="Blank (g3f119654ce8_83_0)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1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1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41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">
  <p:cSld name="Blank (g3f119654ce8_30_0)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42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42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(g3f119654ce8_69_0)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3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3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39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26" Type="http://schemas.openxmlformats.org/officeDocument/2006/relationships/theme" Target="../theme/theme3.xml"/><Relationship Id="rId25" Type="http://schemas.openxmlformats.org/officeDocument/2006/relationships/slideLayout" Target="../slideLayouts/slideLayout41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1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" name="Google Shape;36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1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8"/>
          <p:cNvGrpSpPr/>
          <p:nvPr/>
        </p:nvGrpSpPr>
        <p:grpSpPr>
          <a:xfrm>
            <a:off x="-16" y="228598"/>
            <a:ext cx="2851500" cy="6638590"/>
            <a:chOff x="2487613" y="285750"/>
            <a:chExt cx="2428875" cy="5654676"/>
          </a:xfrm>
        </p:grpSpPr>
        <p:sp>
          <p:nvSpPr>
            <p:cNvPr id="166" name="Google Shape;166;p18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2573338" y="2817813"/>
              <a:ext cx="700088" cy="2835274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3148013" y="1282700"/>
              <a:ext cx="1768475" cy="3448051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27048" y="-791"/>
            <a:ext cx="2356623" cy="6853886"/>
            <a:chOff x="6627813" y="194833"/>
            <a:chExt cx="1952625" cy="5678918"/>
          </a:xfrm>
        </p:grpSpPr>
        <p:sp>
          <p:nvSpPr>
            <p:cNvPr id="179" name="Google Shape;179;p18"/>
            <p:cNvSpPr/>
            <p:nvPr/>
          </p:nvSpPr>
          <p:spPr>
            <a:xfrm>
              <a:off x="6627813" y="194833"/>
              <a:ext cx="409575" cy="3646489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7037388" y="3811588"/>
              <a:ext cx="457200" cy="1852614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91" name="Google Shape;191;p18"/>
          <p:cNvSpPr/>
          <p:nvPr/>
        </p:nvSpPr>
        <p:spPr>
          <a:xfrm>
            <a:off x="0" y="0"/>
            <a:ext cx="183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p18"/>
          <p:cNvSpPr txBox="1"/>
          <p:nvPr>
            <p:ph type="title"/>
          </p:nvPr>
        </p:nvSpPr>
        <p:spPr>
          <a:xfrm>
            <a:off x="2592924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4" name="Google Shape;194;p18"/>
          <p:cNvSpPr txBox="1"/>
          <p:nvPr>
            <p:ph idx="10" type="dt"/>
          </p:nvPr>
        </p:nvSpPr>
        <p:spPr>
          <a:xfrm>
            <a:off x="10361612" y="6130437"/>
            <a:ext cx="1146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"/>
          <p:cNvSpPr txBox="1"/>
          <p:nvPr>
            <p:ph type="ctrTitle"/>
          </p:nvPr>
        </p:nvSpPr>
        <p:spPr>
          <a:xfrm>
            <a:off x="1899050" y="279476"/>
            <a:ext cx="891540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br>
              <a:rPr b="1" lang="en-IN" sz="3600"/>
            </a:br>
            <a:br>
              <a:rPr b="1" lang="en-IN" sz="3600"/>
            </a:br>
            <a:br>
              <a:rPr b="1" lang="en-IN" sz="3600"/>
            </a:br>
            <a:br>
              <a:rPr b="1" lang="en-IN" sz="3600"/>
            </a:br>
            <a:br>
              <a:rPr b="1" lang="en-IN" sz="3600"/>
            </a:br>
            <a:br>
              <a:rPr b="1" lang="en-IN" sz="3600"/>
            </a:br>
            <a:br>
              <a:rPr b="1" lang="en-IN" sz="3600"/>
            </a:br>
            <a:br>
              <a:rPr b="1" lang="en-IN" sz="3600"/>
            </a:br>
            <a:br>
              <a:rPr b="1" lang="en-IN" sz="3600"/>
            </a:br>
            <a:br>
              <a:rPr b="1" lang="en-IN" sz="3600"/>
            </a:b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b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  <a:b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Attendance and Predictive Performance Analysis</a:t>
            </a:r>
            <a:br>
              <a:rPr b="1" lang="en-IN" sz="4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4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44"/>
          <p:cNvSpPr txBox="1"/>
          <p:nvPr>
            <p:ph idx="1" type="subTitle"/>
          </p:nvPr>
        </p:nvSpPr>
        <p:spPr>
          <a:xfrm>
            <a:off x="5808675" y="3762600"/>
            <a:ext cx="5595900" cy="27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133333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IN" sz="2400"/>
              <a:t>               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Vinayak Kaushik (0827IT231146)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T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anishq Chhabra (0827IT231139)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		       Tanishq Jaiswal (0827IT231140)</a:t>
            </a:r>
            <a:endParaRPr b="1" sz="24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Prahlad Kumawat (0827IT231099)</a:t>
            </a:r>
            <a:endParaRPr/>
          </a:p>
        </p:txBody>
      </p:sp>
      <p:pic>
        <p:nvPicPr>
          <p:cNvPr id="361" name="Google Shape;36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7059" y="-354166"/>
            <a:ext cx="1175716" cy="209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975" y="0"/>
            <a:ext cx="1620078" cy="1381831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4"/>
          <p:cNvSpPr/>
          <p:nvPr/>
        </p:nvSpPr>
        <p:spPr>
          <a:xfrm>
            <a:off x="1420275" y="3922175"/>
            <a:ext cx="4388400" cy="20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b="1" sz="2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IN" sz="2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Manish Vyas</a:t>
            </a:r>
            <a:r>
              <a:rPr b="1" lang="en-IN" sz="24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</a:t>
            </a:r>
            <a:endParaRPr b="1" sz="2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Guide: </a:t>
            </a:r>
            <a:endParaRPr b="1" sz="2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IN" sz="2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Rupesh Gurjar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9" name="Google Shape;369;p45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0" name="Google Shape;370;p45"/>
          <p:cNvSpPr txBox="1"/>
          <p:nvPr/>
        </p:nvSpPr>
        <p:spPr>
          <a:xfrm>
            <a:off x="906625" y="604400"/>
            <a:ext cx="110490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</a:t>
            </a:r>
            <a:r>
              <a:rPr b="1" lang="en-IN" sz="28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Smart Attendance &amp; Performance Analyzer</a:t>
            </a:r>
            <a:endParaRPr b="1" sz="28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role-based web dashboard system for BTech Computer Science</a:t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 • 5 Teachers • 10 Students • 5 CS Courses • Zero Backend</a:t>
            </a:r>
            <a:endParaRPr b="1" sz="16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Tech Stack:</a:t>
            </a:r>
            <a:endParaRPr b="1"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HTML5 | CSS3 | JavaScript | Chart.js | localStorage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SAPA?</a:t>
            </a:r>
            <a:endParaRPr b="1"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focused look at the project goals and audience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●"/>
            </a:pPr>
            <a:r>
              <a:rPr b="1"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Purpose:</a:t>
            </a:r>
            <a:r>
              <a:rPr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Digitize attendance for BTech CS programs and surface trends through charts.</a:t>
            </a: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●"/>
            </a:pPr>
            <a:r>
              <a:rPr b="1"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Who uses it:</a:t>
            </a:r>
            <a:r>
              <a:rPr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Admins (manage users), Teachers (mark attendance), Students (track personal progress).</a:t>
            </a: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●"/>
            </a:pPr>
            <a:r>
              <a:rPr b="1"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Scope:</a:t>
            </a:r>
            <a:r>
              <a:rPr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5 pre-loaded CS courses, 10 students, 5 teacher accounts, 750+ attendance records.</a:t>
            </a: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Metrics:</a:t>
            </a:r>
            <a:endParaRPr b="1"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v1.0 • Pure client-side • ~2,200 Total lines of code • 0 Backend services</a:t>
            </a: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46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7" name="Google Shape;377;p46"/>
          <p:cNvSpPr/>
          <p:nvPr/>
        </p:nvSpPr>
        <p:spPr>
          <a:xfrm flipH="1" rot="10800000">
            <a:off x="-4196" y="714370"/>
            <a:ext cx="1598100" cy="507300"/>
          </a:xfrm>
          <a:custGeom>
            <a:rect b="b" l="l" r="r" t="t"/>
            <a:pathLst>
              <a:path extrusionOk="0" h="120000" w="12000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9" name="Google Shape;379;p46"/>
          <p:cNvSpPr txBox="1"/>
          <p:nvPr/>
        </p:nvSpPr>
        <p:spPr>
          <a:xfrm>
            <a:off x="1762125" y="5715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Structure</a:t>
            </a:r>
            <a:endParaRPr b="1" sz="32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Files, roles, and what each one owns</a:t>
            </a:r>
            <a:endParaRPr b="0" sz="16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46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81" name="Google Shape;381;p46"/>
          <p:cNvGrpSpPr/>
          <p:nvPr/>
        </p:nvGrpSpPr>
        <p:grpSpPr>
          <a:xfrm>
            <a:off x="828675" y="1628775"/>
            <a:ext cx="4819800" cy="4819800"/>
            <a:chOff x="-123825" y="-85725"/>
            <a:chExt cx="4819800" cy="4819800"/>
          </a:xfrm>
        </p:grpSpPr>
        <p:pic>
          <p:nvPicPr>
            <p:cNvPr id="382" name="Google Shape;382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23825" y="-85725"/>
              <a:ext cx="4819800" cy="481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5720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46"/>
            <p:cNvSpPr txBox="1"/>
            <p:nvPr/>
          </p:nvSpPr>
          <p:spPr>
            <a:xfrm>
              <a:off x="190500" y="95250"/>
              <a:ext cx="41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Repository Layout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5" name="Google Shape;385;p46"/>
            <p:cNvSpPr txBox="1"/>
            <p:nvPr/>
          </p:nvSpPr>
          <p:spPr>
            <a:xfrm>
              <a:off x="285750" y="666750"/>
              <a:ext cx="4000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Project/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index.html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dashboard.html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css/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│ └── style.css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js/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│ ├── app.js (login)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│ ├── data.js (storage)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│ └── dashboard.js (app)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objective.md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suggestion.md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├── status.md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50">
                  <a:solidFill>
                    <a:srgbClr val="1E293B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└── build_ppt.py</a:t>
              </a:r>
              <a:endParaRPr sz="1250">
                <a:solidFill>
                  <a:srgbClr val="1E293B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6" name="Google Shape;386;p46"/>
          <p:cNvGrpSpPr/>
          <p:nvPr/>
        </p:nvGrpSpPr>
        <p:grpSpPr>
          <a:xfrm>
            <a:off x="5905500" y="1714500"/>
            <a:ext cx="5334000" cy="2000100"/>
            <a:chOff x="0" y="0"/>
            <a:chExt cx="5334000" cy="2000100"/>
          </a:xfrm>
        </p:grpSpPr>
        <p:sp>
          <p:nvSpPr>
            <p:cNvPr id="387" name="Google Shape;387;p46"/>
            <p:cNvSpPr/>
            <p:nvPr/>
          </p:nvSpPr>
          <p:spPr>
            <a:xfrm>
              <a:off x="0" y="0"/>
              <a:ext cx="5334000" cy="20001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8" name="Google Shape;388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5334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46"/>
            <p:cNvSpPr txBox="1"/>
            <p:nvPr/>
          </p:nvSpPr>
          <p:spPr>
            <a:xfrm>
              <a:off x="190500" y="76200"/>
              <a:ext cx="4953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Code Footprint</a:t>
              </a:r>
              <a:endParaRPr b="1" sz="14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0" name="Google Shape;390;p46"/>
            <p:cNvSpPr txBox="1"/>
            <p:nvPr/>
          </p:nvSpPr>
          <p:spPr>
            <a:xfrm>
              <a:off x="190500" y="523875"/>
              <a:ext cx="4953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b="1"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HTML: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2 pages (login + dashboard shell)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b="1"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CSS: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728 lines, fully themed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b="1"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JS: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~1,400 lines across 3 files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b="1"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Docs: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objective.md, suggestion.md, status.md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b="1"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Deps: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1 — Chart.js via CDN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91" name="Google Shape;391;p46"/>
          <p:cNvGrpSpPr/>
          <p:nvPr/>
        </p:nvGrpSpPr>
        <p:grpSpPr>
          <a:xfrm>
            <a:off x="5905500" y="3905250"/>
            <a:ext cx="5334000" cy="2381400"/>
            <a:chOff x="0" y="0"/>
            <a:chExt cx="5334000" cy="2381400"/>
          </a:xfrm>
        </p:grpSpPr>
        <p:sp>
          <p:nvSpPr>
            <p:cNvPr id="392" name="Google Shape;392;p46"/>
            <p:cNvSpPr/>
            <p:nvPr/>
          </p:nvSpPr>
          <p:spPr>
            <a:xfrm>
              <a:off x="0" y="0"/>
              <a:ext cx="5334000" cy="2381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93" name="Google Shape;393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5334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46"/>
            <p:cNvSpPr txBox="1"/>
            <p:nvPr/>
          </p:nvSpPr>
          <p:spPr>
            <a:xfrm>
              <a:off x="190500" y="76200"/>
              <a:ext cx="4953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Key Facts</a:t>
              </a:r>
              <a:endParaRPr b="1" sz="14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5" name="Google Shape;395;p46"/>
            <p:cNvSpPr txBox="1"/>
            <p:nvPr/>
          </p:nvSpPr>
          <p:spPr>
            <a:xfrm>
              <a:off x="190500" y="523875"/>
              <a:ext cx="4953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Three role-aware menus, one shared SPA shell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All state lives in </a:t>
              </a:r>
              <a:r>
                <a:rPr b="1"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localStorage</a:t>
              </a: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under sarpa_data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Charts re-render on every navigation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Dark / light theme saved to localStorage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Century Gothic"/>
                <a:buChar char="●"/>
              </a:pPr>
              <a:r>
                <a:rPr lang="en-IN" sz="1100">
                  <a:solidFill>
                    <a:srgbClr val="33415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Mobile breakpoint at 768px</a:t>
              </a:r>
              <a:endParaRPr sz="1100">
                <a:solidFill>
                  <a:srgbClr val="33415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p47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02" name="Google Shape;402;p47"/>
          <p:cNvGrpSpPr/>
          <p:nvPr/>
        </p:nvGrpSpPr>
        <p:grpSpPr>
          <a:xfrm>
            <a:off x="1762125" y="571500"/>
            <a:ext cx="9525000" cy="952500"/>
            <a:chOff x="0" y="0"/>
            <a:chExt cx="9525000" cy="952500"/>
          </a:xfrm>
        </p:grpSpPr>
        <p:sp>
          <p:nvSpPr>
            <p:cNvPr id="403" name="Google Shape;403;p47"/>
            <p:cNvSpPr/>
            <p:nvPr/>
          </p:nvSpPr>
          <p:spPr>
            <a:xfrm>
              <a:off x="0" y="0"/>
              <a:ext cx="9525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7"/>
            <p:cNvSpPr txBox="1"/>
            <p:nvPr/>
          </p:nvSpPr>
          <p:spPr>
            <a:xfrm>
              <a:off x="0" y="0"/>
              <a:ext cx="952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2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Technology Stack</a:t>
              </a:r>
              <a:endParaRPr b="1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6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Every tool used in the build</a:t>
              </a:r>
              <a:endParaRPr b="0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05" name="Google Shape;405;p47"/>
          <p:cNvGrpSpPr/>
          <p:nvPr/>
        </p:nvGrpSpPr>
        <p:grpSpPr>
          <a:xfrm>
            <a:off x="952500" y="1714500"/>
            <a:ext cx="10287000" cy="4572000"/>
            <a:chOff x="0" y="0"/>
            <a:chExt cx="10287000" cy="4572000"/>
          </a:xfrm>
        </p:grpSpPr>
        <p:sp>
          <p:nvSpPr>
            <p:cNvPr id="406" name="Google Shape;406;p47"/>
            <p:cNvSpPr/>
            <p:nvPr/>
          </p:nvSpPr>
          <p:spPr>
            <a:xfrm>
              <a:off x="0" y="0"/>
              <a:ext cx="10287000" cy="457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7" name="Google Shape;407;p47"/>
            <p:cNvGrpSpPr/>
            <p:nvPr/>
          </p:nvGrpSpPr>
          <p:grpSpPr>
            <a:xfrm>
              <a:off x="0" y="0"/>
              <a:ext cx="3238500" cy="2095500"/>
              <a:chOff x="0" y="0"/>
              <a:chExt cx="3238500" cy="2095500"/>
            </a:xfrm>
          </p:grpSpPr>
          <p:sp>
            <p:nvSpPr>
              <p:cNvPr id="408" name="Google Shape;408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fmla="val 681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HTML5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IN" sz="13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Semantic markup for login and SPA shell. Modal system, nav, &lt;canvas&gt; targets.</a:t>
                </a:r>
                <a:endParaRPr b="0" sz="13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10" name="Google Shape;410;p47"/>
            <p:cNvGrpSpPr/>
            <p:nvPr/>
          </p:nvGrpSpPr>
          <p:grpSpPr>
            <a:xfrm>
              <a:off x="3524250" y="0"/>
              <a:ext cx="3238500" cy="2095500"/>
              <a:chOff x="0" y="0"/>
              <a:chExt cx="3238500" cy="2095500"/>
            </a:xfrm>
          </p:grpSpPr>
          <p:sp>
            <p:nvSpPr>
              <p:cNvPr id="411" name="Google Shape;411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fmla="val 681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CSS3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IN" sz="13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Custom-property theming, Grid + Flexbox. Dark/light mode, 728 lines of styling.</a:t>
                </a:r>
                <a:endParaRPr b="0" sz="13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13" name="Google Shape;413;p47"/>
            <p:cNvGrpSpPr/>
            <p:nvPr/>
          </p:nvGrpSpPr>
          <p:grpSpPr>
            <a:xfrm>
              <a:off x="7048500" y="0"/>
              <a:ext cx="3238500" cy="2095500"/>
              <a:chOff x="0" y="0"/>
              <a:chExt cx="3238500" cy="2095500"/>
            </a:xfrm>
          </p:grpSpPr>
          <p:sp>
            <p:nvSpPr>
              <p:cNvPr id="414" name="Google Shape;414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fmla="val 681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JavaScript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IN" sz="13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Vanilla ES6+, IIFE modules. Event-driven SPA, no framework.</a:t>
                </a:r>
                <a:endParaRPr b="0" sz="13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16" name="Google Shape;416;p47"/>
            <p:cNvGrpSpPr/>
            <p:nvPr/>
          </p:nvGrpSpPr>
          <p:grpSpPr>
            <a:xfrm>
              <a:off x="0" y="2381250"/>
              <a:ext cx="3238500" cy="2095500"/>
              <a:chOff x="0" y="0"/>
              <a:chExt cx="3238500" cy="2095500"/>
            </a:xfrm>
          </p:grpSpPr>
          <p:sp>
            <p:nvSpPr>
              <p:cNvPr id="417" name="Google Shape;417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fmla="val 681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Chart.js 4.4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IN" sz="13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Loaded via CDN. Bar, line, pie, doughnut charts.</a:t>
                </a:r>
                <a:endParaRPr b="0" sz="13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19" name="Google Shape;419;p47"/>
            <p:cNvGrpSpPr/>
            <p:nvPr/>
          </p:nvGrpSpPr>
          <p:grpSpPr>
            <a:xfrm>
              <a:off x="3524250" y="2381250"/>
              <a:ext cx="3238500" cy="2095500"/>
              <a:chOff x="0" y="0"/>
              <a:chExt cx="3238500" cy="2095500"/>
            </a:xfrm>
          </p:grpSpPr>
          <p:sp>
            <p:nvSpPr>
              <p:cNvPr id="420" name="Google Shape;420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fmla="val 681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localStorage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IN" sz="13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Browser-native persistence. JSON serialization, schema v3.</a:t>
                </a:r>
                <a:endParaRPr b="0" sz="13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22" name="Google Shape;422;p47"/>
            <p:cNvGrpSpPr/>
            <p:nvPr/>
          </p:nvGrpSpPr>
          <p:grpSpPr>
            <a:xfrm>
              <a:off x="7048500" y="2381250"/>
              <a:ext cx="3238500" cy="2095500"/>
              <a:chOff x="0" y="0"/>
              <a:chExt cx="3238500" cy="2095500"/>
            </a:xfrm>
          </p:grpSpPr>
          <p:sp>
            <p:nvSpPr>
              <p:cNvPr id="423" name="Google Shape;423;p47"/>
              <p:cNvSpPr/>
              <p:nvPr/>
            </p:nvSpPr>
            <p:spPr>
              <a:xfrm>
                <a:off x="0" y="0"/>
                <a:ext cx="3238500" cy="2095500"/>
              </a:xfrm>
              <a:prstGeom prst="roundRect">
                <a:avLst>
                  <a:gd fmla="val 681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47"/>
              <p:cNvSpPr txBox="1"/>
              <p:nvPr/>
            </p:nvSpPr>
            <p:spPr>
              <a:xfrm>
                <a:off x="190500" y="190500"/>
                <a:ext cx="2857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Inter Font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IN" sz="13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Google Fonts CDN. Clean legibility across the UI.</a:t>
                </a:r>
                <a:endParaRPr b="0" sz="13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425" name="Google Shape;425;p47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2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Technology Stack</a:t>
            </a:r>
            <a:endParaRPr b="0" sz="12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48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32" name="Google Shape;432;p48"/>
          <p:cNvSpPr txBox="1"/>
          <p:nvPr/>
        </p:nvSpPr>
        <p:spPr>
          <a:xfrm>
            <a:off x="1762125" y="5715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Model</a:t>
            </a:r>
            <a:endParaRPr b="1" sz="32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Everything stored under localStorage key 'sarpa_data'</a:t>
            </a:r>
            <a:endParaRPr b="0" sz="16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33" name="Google Shape;433;p48"/>
          <p:cNvGrpSpPr/>
          <p:nvPr/>
        </p:nvGrpSpPr>
        <p:grpSpPr>
          <a:xfrm>
            <a:off x="952500" y="1714500"/>
            <a:ext cx="10287150" cy="4381500"/>
            <a:chOff x="0" y="0"/>
            <a:chExt cx="10287150" cy="4381500"/>
          </a:xfrm>
        </p:grpSpPr>
        <p:grpSp>
          <p:nvGrpSpPr>
            <p:cNvPr id="434" name="Google Shape;434;p48"/>
            <p:cNvGrpSpPr/>
            <p:nvPr/>
          </p:nvGrpSpPr>
          <p:grpSpPr>
            <a:xfrm>
              <a:off x="0" y="0"/>
              <a:ext cx="3238500" cy="1428900"/>
              <a:chOff x="0" y="0"/>
              <a:chExt cx="3238500" cy="1428900"/>
            </a:xfrm>
          </p:grpSpPr>
          <p:sp>
            <p:nvSpPr>
              <p:cNvPr id="435" name="Google Shape;435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username, password, name, email }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37" name="Google Shape;437;p48"/>
            <p:cNvGrpSpPr/>
            <p:nvPr/>
          </p:nvGrpSpPr>
          <p:grpSpPr>
            <a:xfrm>
              <a:off x="3524250" y="0"/>
              <a:ext cx="3238500" cy="1428900"/>
              <a:chOff x="0" y="0"/>
              <a:chExt cx="3238500" cy="1428900"/>
            </a:xfrm>
          </p:grpSpPr>
          <p:sp>
            <p:nvSpPr>
              <p:cNvPr id="438" name="Google Shape;438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teachers[]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id, username, password, name, course, courseCode, email }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40" name="Google Shape;440;p48"/>
            <p:cNvGrpSpPr/>
            <p:nvPr/>
          </p:nvGrpSpPr>
          <p:grpSpPr>
            <a:xfrm>
              <a:off x="7048500" y="0"/>
              <a:ext cx="3238500" cy="1428900"/>
              <a:chOff x="0" y="0"/>
              <a:chExt cx="3238500" cy="1428900"/>
            </a:xfrm>
          </p:grpSpPr>
          <p:sp>
            <p:nvSpPr>
              <p:cNvPr id="441" name="Google Shape;441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students[]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id, rollno, name, email, batch, courses[], password }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43" name="Google Shape;443;p48"/>
            <p:cNvGrpSpPr/>
            <p:nvPr/>
          </p:nvGrpSpPr>
          <p:grpSpPr>
            <a:xfrm>
              <a:off x="0" y="1619250"/>
              <a:ext cx="3238500" cy="1428900"/>
              <a:chOff x="0" y="0"/>
              <a:chExt cx="3238500" cy="1428900"/>
            </a:xfrm>
          </p:grpSpPr>
          <p:sp>
            <p:nvSpPr>
              <p:cNvPr id="444" name="Google Shape;444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attendance[]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id, studentId, teacherId, courseCode, date, status, remarks }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46" name="Google Shape;446;p48"/>
            <p:cNvGrpSpPr/>
            <p:nvPr/>
          </p:nvGrpSpPr>
          <p:grpSpPr>
            <a:xfrm>
              <a:off x="3524250" y="1619250"/>
              <a:ext cx="3238500" cy="1428900"/>
              <a:chOff x="0" y="0"/>
              <a:chExt cx="3238500" cy="1428900"/>
            </a:xfrm>
          </p:grpSpPr>
          <p:sp>
            <p:nvSpPr>
              <p:cNvPr id="447" name="Google Shape;447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announcements[]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id, text, date, author }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49" name="Google Shape;449;p48"/>
            <p:cNvGrpSpPr/>
            <p:nvPr/>
          </p:nvGrpSpPr>
          <p:grpSpPr>
            <a:xfrm>
              <a:off x="7048500" y="1619250"/>
              <a:ext cx="3238500" cy="1428900"/>
              <a:chOff x="0" y="0"/>
              <a:chExt cx="3238500" cy="1428900"/>
            </a:xfrm>
          </p:grpSpPr>
          <p:sp>
            <p:nvSpPr>
              <p:cNvPr id="450" name="Google Shape;450;p48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48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auditLog[]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timestamp, user, action }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52" name="Google Shape;452;p48"/>
            <p:cNvGrpSpPr/>
            <p:nvPr/>
          </p:nvGrpSpPr>
          <p:grpSpPr>
            <a:xfrm>
              <a:off x="0" y="3238500"/>
              <a:ext cx="4857900" cy="1143000"/>
              <a:chOff x="0" y="0"/>
              <a:chExt cx="4857900" cy="1143000"/>
            </a:xfrm>
          </p:grpSpPr>
          <p:sp>
            <p:nvSpPr>
              <p:cNvPr id="453" name="Google Shape;453;p48"/>
              <p:cNvSpPr/>
              <p:nvPr/>
            </p:nvSpPr>
            <p:spPr>
              <a:xfrm>
                <a:off x="0" y="0"/>
                <a:ext cx="4857900" cy="11430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48"/>
              <p:cNvSpPr txBox="1"/>
              <p:nvPr/>
            </p:nvSpPr>
            <p:spPr>
              <a:xfrm>
                <a:off x="190500" y="190500"/>
                <a:ext cx="4476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config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{ minAttendance, lateGraceMinutes, semester dates }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55" name="Google Shape;455;p48"/>
            <p:cNvGrpSpPr/>
            <p:nvPr/>
          </p:nvGrpSpPr>
          <p:grpSpPr>
            <a:xfrm>
              <a:off x="5429250" y="3238500"/>
              <a:ext cx="4857900" cy="1143000"/>
              <a:chOff x="0" y="0"/>
              <a:chExt cx="4857900" cy="1143000"/>
            </a:xfrm>
          </p:grpSpPr>
          <p:sp>
            <p:nvSpPr>
              <p:cNvPr id="456" name="Google Shape;456;p48"/>
              <p:cNvSpPr/>
              <p:nvPr/>
            </p:nvSpPr>
            <p:spPr>
              <a:xfrm>
                <a:off x="0" y="0"/>
                <a:ext cx="4857900" cy="11430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48"/>
              <p:cNvSpPr txBox="1"/>
              <p:nvPr/>
            </p:nvSpPr>
            <p:spPr>
              <a:xfrm>
                <a:off x="190500" y="190500"/>
                <a:ext cx="4476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version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3 (auto-migrated on schema change)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49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4" name="Google Shape;464;p49"/>
          <p:cNvSpPr txBox="1"/>
          <p:nvPr/>
        </p:nvSpPr>
        <p:spPr>
          <a:xfrm>
            <a:off x="1762125" y="5715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Login &amp; Roles</a:t>
            </a:r>
            <a:endParaRPr b="1" sz="32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Unified login page with role selector</a:t>
            </a:r>
            <a:endParaRPr b="0" sz="16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65" name="Google Shape;465;p49"/>
          <p:cNvGrpSpPr/>
          <p:nvPr/>
        </p:nvGrpSpPr>
        <p:grpSpPr>
          <a:xfrm>
            <a:off x="952500" y="1714500"/>
            <a:ext cx="10287000" cy="4000650"/>
            <a:chOff x="0" y="0"/>
            <a:chExt cx="10287000" cy="4000650"/>
          </a:xfrm>
        </p:grpSpPr>
        <p:grpSp>
          <p:nvGrpSpPr>
            <p:cNvPr id="466" name="Google Shape;466;p49"/>
            <p:cNvGrpSpPr/>
            <p:nvPr/>
          </p:nvGrpSpPr>
          <p:grpSpPr>
            <a:xfrm>
              <a:off x="0" y="0"/>
              <a:ext cx="3238500" cy="4000500"/>
              <a:chOff x="0" y="0"/>
              <a:chExt cx="3238500" cy="4000500"/>
            </a:xfrm>
          </p:grpSpPr>
          <p:sp>
            <p:nvSpPr>
              <p:cNvPr id="467" name="Google Shape;467;p49"/>
              <p:cNvSpPr/>
              <p:nvPr/>
            </p:nvSpPr>
            <p:spPr>
              <a:xfrm>
                <a:off x="0" y="0"/>
                <a:ext cx="3238500" cy="4000500"/>
              </a:xfrm>
              <a:prstGeom prst="roundRect">
                <a:avLst>
                  <a:gd fmla="val 44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49"/>
              <p:cNvSpPr txBox="1"/>
              <p:nvPr/>
            </p:nvSpPr>
            <p:spPr>
              <a:xfrm>
                <a:off x="190500" y="190500"/>
                <a:ext cx="2857500" cy="36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Login flow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User opens index.html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Picks a role from the dropdown (Admin / Teacher / Student)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Enters username and password (default: 123456)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app.js calls DataStore.authenticate()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On success, user is saved to sarpa_current_user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Browser redirects to dashboard.html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469" name="Google Shape;469;p49"/>
            <p:cNvGrpSpPr/>
            <p:nvPr/>
          </p:nvGrpSpPr>
          <p:grpSpPr>
            <a:xfrm>
              <a:off x="3524250" y="0"/>
              <a:ext cx="3238500" cy="4000650"/>
              <a:chOff x="0" y="0"/>
              <a:chExt cx="3238500" cy="4000650"/>
            </a:xfrm>
          </p:grpSpPr>
          <p:sp>
            <p:nvSpPr>
              <p:cNvPr id="470" name="Google Shape;470;p49"/>
              <p:cNvSpPr/>
              <p:nvPr/>
            </p:nvSpPr>
            <p:spPr>
              <a:xfrm>
                <a:off x="0" y="0"/>
                <a:ext cx="32385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49"/>
              <p:cNvSpPr txBox="1"/>
              <p:nvPr/>
            </p:nvSpPr>
            <p:spPr>
              <a:xfrm>
                <a:off x="190500" y="190500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 credentials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• Username: admin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• Password: 123456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• Scope: full system control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grpSp>
            <p:nvGrpSpPr>
              <p:cNvPr id="472" name="Google Shape;472;p49"/>
              <p:cNvGrpSpPr/>
              <p:nvPr/>
            </p:nvGrpSpPr>
            <p:grpSpPr>
              <a:xfrm>
                <a:off x="0" y="1619250"/>
                <a:ext cx="3238500" cy="2381400"/>
                <a:chOff x="0" y="0"/>
                <a:chExt cx="3238500" cy="2381400"/>
              </a:xfrm>
            </p:grpSpPr>
            <p:sp>
              <p:nvSpPr>
                <p:cNvPr id="473" name="Google Shape;473;p49"/>
                <p:cNvSpPr/>
                <p:nvPr/>
              </p:nvSpPr>
              <p:spPr>
                <a:xfrm>
                  <a:off x="0" y="0"/>
                  <a:ext cx="3238500" cy="2381400"/>
                </a:xfrm>
                <a:prstGeom prst="roundRect">
                  <a:avLst>
                    <a:gd fmla="val 60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" name="Google Shape;474;p49"/>
                <p:cNvSpPr txBox="1"/>
                <p:nvPr/>
              </p:nvSpPr>
              <p:spPr>
                <a:xfrm>
                  <a:off x="190500" y="190500"/>
                  <a:ext cx="2857500" cy="20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IN" sz="1800">
                      <a:solidFill>
                        <a:srgbClr val="A5301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Teacher logins</a:t>
                  </a:r>
                  <a:endParaRPr b="1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rtl="0" algn="l">
                    <a:spcBef>
                      <a:spcPts val="750"/>
                    </a:spcBef>
                    <a:spcAft>
                      <a:spcPts val="0"/>
                    </a:spcAft>
                    <a:buNone/>
                  </a:pPr>
                  <a:r>
                    <a:rPr b="0" lang="en-IN" sz="110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ds — Data Structures (CS201)</a:t>
                  </a:r>
                  <a:endParaRPr b="0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IN" sz="110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dbms — Database Management (CS202)</a:t>
                  </a:r>
                  <a:endParaRPr b="0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IN" sz="110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os — Operating Systems (CS203)</a:t>
                  </a:r>
                  <a:endParaRPr b="0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IN" sz="110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cn — Computer Networks (CS204)</a:t>
                  </a:r>
                  <a:endParaRPr b="0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IN" sz="1100">
                      <a:solidFill>
                        <a:srgbClr val="000000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• se — Software Engineering (CS205)</a:t>
                  </a:r>
                  <a:endParaRPr b="0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</p:grpSp>
        <p:grpSp>
          <p:nvGrpSpPr>
            <p:cNvPr id="475" name="Google Shape;475;p49"/>
            <p:cNvGrpSpPr/>
            <p:nvPr/>
          </p:nvGrpSpPr>
          <p:grpSpPr>
            <a:xfrm>
              <a:off x="7048500" y="0"/>
              <a:ext cx="3238500" cy="4000500"/>
              <a:chOff x="0" y="0"/>
              <a:chExt cx="3238500" cy="4000500"/>
            </a:xfrm>
          </p:grpSpPr>
          <p:sp>
            <p:nvSpPr>
              <p:cNvPr id="476" name="Google Shape;476;p49"/>
              <p:cNvSpPr/>
              <p:nvPr/>
            </p:nvSpPr>
            <p:spPr>
              <a:xfrm>
                <a:off x="0" y="0"/>
                <a:ext cx="3238500" cy="4000500"/>
              </a:xfrm>
              <a:prstGeom prst="roundRect">
                <a:avLst>
                  <a:gd fmla="val 44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49"/>
              <p:cNvSpPr txBox="1"/>
              <p:nvPr/>
            </p:nvSpPr>
            <p:spPr>
              <a:xfrm>
                <a:off x="190500" y="190500"/>
                <a:ext cx="2857500" cy="36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Student logins</a:t>
                </a:r>
                <a:endParaRPr b="1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Roll numbers CS2024001 → CS2024010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All students share password 123456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Each student is enrolled in all 5 courses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-3048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entury Gothic"/>
                  <a:buChar char="●"/>
                </a:pPr>
                <a:r>
                  <a:rPr b="0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Personal data is scoped to the logged-in user</a:t>
                </a:r>
                <a:endParaRPr b="0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478" name="Google Shape;478;p49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2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Login &amp; Roles</a:t>
            </a:r>
            <a:endParaRPr b="0" sz="12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0"/>
          <p:cNvSpPr/>
          <p:nvPr/>
        </p:nvSpPr>
        <p:spPr>
          <a:xfrm flipH="1" rot="10800000">
            <a:off x="-4196" y="714370"/>
            <a:ext cx="1598100" cy="507300"/>
          </a:xfrm>
          <a:custGeom>
            <a:rect b="b" l="l" r="r" t="t"/>
            <a:pathLst>
              <a:path extrusionOk="0" h="120000" w="12000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0"/>
          <p:cNvSpPr txBox="1"/>
          <p:nvPr/>
        </p:nvSpPr>
        <p:spPr>
          <a:xfrm>
            <a:off x="1762125" y="57150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 Dashboard</a:t>
            </a:r>
            <a:endParaRPr b="1" sz="32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control: users, courses, announcements, audit</a:t>
            </a:r>
            <a:endParaRPr b="0" sz="16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85" name="Google Shape;485;p50"/>
          <p:cNvGrpSpPr/>
          <p:nvPr/>
        </p:nvGrpSpPr>
        <p:grpSpPr>
          <a:xfrm>
            <a:off x="952500" y="1714500"/>
            <a:ext cx="3238500" cy="1714500"/>
            <a:chOff x="0" y="0"/>
            <a:chExt cx="3238500" cy="1714500"/>
          </a:xfrm>
        </p:grpSpPr>
        <p:sp>
          <p:nvSpPr>
            <p:cNvPr id="486" name="Google Shape;486;p50"/>
            <p:cNvSpPr/>
            <p:nvPr/>
          </p:nvSpPr>
          <p:spPr>
            <a:xfrm>
              <a:off x="0" y="0"/>
              <a:ext cx="3238500" cy="17145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50"/>
            <p:cNvSpPr txBox="1"/>
            <p:nvPr/>
          </p:nvSpPr>
          <p:spPr>
            <a:xfrm>
              <a:off x="190500" y="190500"/>
              <a:ext cx="2857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95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Overview</a:t>
              </a:r>
              <a:endParaRPr b="1" sz="1395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Stat cards: teachers, students, today's marks, announcements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Bar chart: teacher distribution across 5 CS courses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Doughnut chart: system-wide statistics at a glance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88" name="Google Shape;488;p50"/>
          <p:cNvGrpSpPr/>
          <p:nvPr/>
        </p:nvGrpSpPr>
        <p:grpSpPr>
          <a:xfrm>
            <a:off x="4476750" y="1714500"/>
            <a:ext cx="3238500" cy="1714500"/>
            <a:chOff x="0" y="0"/>
            <a:chExt cx="3238500" cy="1714500"/>
          </a:xfrm>
        </p:grpSpPr>
        <p:sp>
          <p:nvSpPr>
            <p:cNvPr id="489" name="Google Shape;489;p50"/>
            <p:cNvSpPr/>
            <p:nvPr/>
          </p:nvSpPr>
          <p:spPr>
            <a:xfrm>
              <a:off x="0" y="0"/>
              <a:ext cx="3238500" cy="17145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0"/>
            <p:cNvSpPr txBox="1"/>
            <p:nvPr/>
          </p:nvSpPr>
          <p:spPr>
            <a:xfrm>
              <a:off x="190500" y="190500"/>
              <a:ext cx="2857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95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Manage Teachers</a:t>
              </a:r>
              <a:endParaRPr b="1" sz="1395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Full CRUD on teacher records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Assign a teacher to one of 5 CS courses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Cascade delete cleans up attendance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Searchable teacher table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91" name="Google Shape;491;p50"/>
          <p:cNvGrpSpPr/>
          <p:nvPr/>
        </p:nvGrpSpPr>
        <p:grpSpPr>
          <a:xfrm>
            <a:off x="8001000" y="1714500"/>
            <a:ext cx="3238500" cy="1714500"/>
            <a:chOff x="0" y="0"/>
            <a:chExt cx="3238500" cy="1714500"/>
          </a:xfrm>
        </p:grpSpPr>
        <p:sp>
          <p:nvSpPr>
            <p:cNvPr id="492" name="Google Shape;492;p50"/>
            <p:cNvSpPr/>
            <p:nvPr/>
          </p:nvSpPr>
          <p:spPr>
            <a:xfrm>
              <a:off x="0" y="0"/>
              <a:ext cx="3238500" cy="17145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50"/>
            <p:cNvSpPr txBox="1"/>
            <p:nvPr/>
          </p:nvSpPr>
          <p:spPr>
            <a:xfrm>
              <a:off x="190500" y="190500"/>
              <a:ext cx="2857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95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Manage Students</a:t>
              </a:r>
              <a:endParaRPr b="1" sz="1395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Add / edit / delete students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Multi-course enrollment via course picker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Fields: name, roll, email, batch, courses[]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30"/>
                <a:buFont typeface="Century Gothic"/>
                <a:buChar char="●"/>
              </a:pPr>
              <a:r>
                <a:rPr b="0" lang="en-IN" sz="93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Cascade delete on student removal</a:t>
              </a:r>
              <a:endParaRPr b="0" sz="93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94" name="Google Shape;494;p50"/>
          <p:cNvGrpSpPr/>
          <p:nvPr/>
        </p:nvGrpSpPr>
        <p:grpSpPr>
          <a:xfrm>
            <a:off x="952500" y="3619500"/>
            <a:ext cx="10287000" cy="1714500"/>
            <a:chOff x="0" y="0"/>
            <a:chExt cx="10287000" cy="1714500"/>
          </a:xfrm>
        </p:grpSpPr>
        <p:sp>
          <p:nvSpPr>
            <p:cNvPr id="495" name="Google Shape;495;p50"/>
            <p:cNvSpPr/>
            <p:nvPr/>
          </p:nvSpPr>
          <p:spPr>
            <a:xfrm>
              <a:off x="0" y="0"/>
              <a:ext cx="10287000" cy="17145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50"/>
            <p:cNvSpPr txBox="1"/>
            <p:nvPr/>
          </p:nvSpPr>
          <p:spPr>
            <a:xfrm>
              <a:off x="190500" y="190500"/>
              <a:ext cx="9906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System Tools</a:t>
              </a:r>
              <a:endParaRPr b="1" sz="18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entury Gothic"/>
                <a:buChar char="●"/>
              </a:pPr>
              <a:r>
                <a:rPr b="0" lang="en-IN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Post announcements with author + timestamp</a:t>
              </a:r>
              <a:endParaRPr b="0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entury Gothic"/>
                <a:buChar char="●"/>
              </a:pPr>
              <a:r>
                <a:rPr b="0" lang="en-IN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Audit log of every data change</a:t>
              </a:r>
              <a:endParaRPr b="0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entury Gothic"/>
                <a:buChar char="●"/>
              </a:pPr>
              <a:r>
                <a:rPr b="0" lang="en-IN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Configurable min attendance % and late grace</a:t>
              </a:r>
              <a:endParaRPr b="0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entury Gothic"/>
                <a:buChar char="●"/>
              </a:pPr>
              <a:r>
                <a:rPr b="0" lang="en-IN"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One-click data reset from Settings</a:t>
              </a:r>
              <a:endParaRPr b="0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97" name="Google Shape;497;p50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2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Admin Dashboard</a:t>
            </a:r>
            <a:endParaRPr b="0" sz="12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1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03" name="Google Shape;503;p51"/>
          <p:cNvSpPr/>
          <p:nvPr/>
        </p:nvSpPr>
        <p:spPr>
          <a:xfrm flipH="1" rot="10800000">
            <a:off x="-4200" y="714364"/>
            <a:ext cx="1598100" cy="507300"/>
          </a:xfrm>
          <a:custGeom>
            <a:rect b="b" l="l" r="r" t="t"/>
            <a:pathLst>
              <a:path extrusionOk="0" h="120000" w="120000">
                <a:moveTo>
                  <a:pt x="119294" y="56410"/>
                </a:moveTo>
                <a:lnTo>
                  <a:pt x="102097" y="2253"/>
                </a:lnTo>
                <a:cubicBezTo>
                  <a:pt x="101981" y="1869"/>
                  <a:pt x="101838" y="1513"/>
                  <a:pt x="101725" y="1130"/>
                </a:cubicBezTo>
                <a:cubicBezTo>
                  <a:pt x="101376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6" y="118462"/>
                  <a:pt x="101725" y="118462"/>
                </a:cubicBezTo>
                <a:cubicBezTo>
                  <a:pt x="101725" y="117333"/>
                  <a:pt x="102097" y="117333"/>
                  <a:pt x="102097" y="117333"/>
                </a:cubicBezTo>
                <a:lnTo>
                  <a:pt x="119294" y="63182"/>
                </a:lnTo>
                <a:cubicBezTo>
                  <a:pt x="120000" y="60922"/>
                  <a:pt x="120000" y="58669"/>
                  <a:pt x="119294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1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Teacher Dashboard</a:t>
            </a:r>
            <a:endParaRPr b="1" sz="32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Course roster, attendance, and student analytics</a:t>
            </a:r>
            <a:endParaRPr b="0" sz="16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05" name="Google Shape;505;p51"/>
          <p:cNvGrpSpPr/>
          <p:nvPr/>
        </p:nvGrpSpPr>
        <p:grpSpPr>
          <a:xfrm>
            <a:off x="952500" y="1905000"/>
            <a:ext cx="2381400" cy="4000500"/>
            <a:chOff x="0" y="0"/>
            <a:chExt cx="2381400" cy="4000500"/>
          </a:xfrm>
        </p:grpSpPr>
        <p:sp>
          <p:nvSpPr>
            <p:cNvPr id="506" name="Google Shape;506;p51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51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My Course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View all enrolled students in assigned course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Enroll / remove students with dropdown picker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Student count badge in card header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08" name="Google Shape;508;p51"/>
          <p:cNvGrpSpPr/>
          <p:nvPr/>
        </p:nvGrpSpPr>
        <p:grpSpPr>
          <a:xfrm>
            <a:off x="3524250" y="1905000"/>
            <a:ext cx="2381400" cy="4000500"/>
            <a:chOff x="0" y="0"/>
            <a:chExt cx="2381400" cy="4000500"/>
          </a:xfrm>
        </p:grpSpPr>
        <p:sp>
          <p:nvSpPr>
            <p:cNvPr id="509" name="Google Shape;509;p51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51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Mark Attendance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Calendar date picker for the session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Present / Absent / Late toggle cards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Mark All Present / Mark All Absent bulk actions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Auto-save to localStorage on every click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11" name="Google Shape;511;p51"/>
          <p:cNvGrpSpPr/>
          <p:nvPr/>
        </p:nvGrpSpPr>
        <p:grpSpPr>
          <a:xfrm>
            <a:off x="6096000" y="1905000"/>
            <a:ext cx="2381400" cy="4000500"/>
            <a:chOff x="0" y="0"/>
            <a:chExt cx="2381400" cy="4000500"/>
          </a:xfrm>
        </p:grpSpPr>
        <p:sp>
          <p:nvSpPr>
            <p:cNvPr id="512" name="Google Shape;512;p51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51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View Attendance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Three filters: By Day, By Month, By Year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Calendar picker for precise date / month range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Color-coded badges: green / red / amber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Tabular output with roll, name, date, status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14" name="Google Shape;514;p51"/>
          <p:cNvGrpSpPr/>
          <p:nvPr/>
        </p:nvGrpSpPr>
        <p:grpSpPr>
          <a:xfrm>
            <a:off x="8667750" y="1905000"/>
            <a:ext cx="2381400" cy="4000500"/>
            <a:chOff x="0" y="0"/>
            <a:chExt cx="2381400" cy="4000500"/>
          </a:xfrm>
        </p:grpSpPr>
        <p:sp>
          <p:nvSpPr>
            <p:cNvPr id="515" name="Google Shape;515;p51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51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Student Analytics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Per-student summary table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Columns: Total, Present, Absent, Late, %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Color-coded progress bars by threshold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Spot at-risk students in a glance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17" name="Google Shape;517;p51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2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Teacher Dashboard</a:t>
            </a:r>
            <a:endParaRPr b="0" sz="12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2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3" name="Google Shape;523;p52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4" name="Google Shape;524;p52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Student Dashboard</a:t>
            </a:r>
            <a:endParaRPr b="1" sz="32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Personal attendance, course breakdown, charts</a:t>
            </a:r>
            <a:endParaRPr b="0" sz="16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25" name="Google Shape;525;p52"/>
          <p:cNvGrpSpPr/>
          <p:nvPr/>
        </p:nvGrpSpPr>
        <p:grpSpPr>
          <a:xfrm>
            <a:off x="952500" y="1905000"/>
            <a:ext cx="2381400" cy="4000500"/>
            <a:chOff x="0" y="0"/>
            <a:chExt cx="2381400" cy="4000500"/>
          </a:xfrm>
        </p:grpSpPr>
        <p:sp>
          <p:nvSpPr>
            <p:cNvPr id="526" name="Google Shape;526;p52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52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My Attendance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Personal log with day / month / year filters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Calendar picker for precise dates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Color-coded status badges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Course name shown alongside each entry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28" name="Google Shape;528;p52"/>
          <p:cNvGrpSpPr/>
          <p:nvPr/>
        </p:nvGrpSpPr>
        <p:grpSpPr>
          <a:xfrm>
            <a:off x="3524250" y="1905000"/>
            <a:ext cx="2381400" cy="4000500"/>
            <a:chOff x="0" y="0"/>
            <a:chExt cx="2381400" cy="4000500"/>
          </a:xfrm>
        </p:grpSpPr>
        <p:sp>
          <p:nvSpPr>
            <p:cNvPr id="529" name="Google Shape;529;p52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52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Course Breakdown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Overall attendance % with progress bar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Stats per CS course: total, present, absent, late, %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Color-coded bars for instant assessment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Covers DS, DBMS, OS, CN, SE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31" name="Google Shape;531;p52"/>
          <p:cNvGrpSpPr/>
          <p:nvPr/>
        </p:nvGrpSpPr>
        <p:grpSpPr>
          <a:xfrm>
            <a:off x="6096000" y="1905000"/>
            <a:ext cx="2381400" cy="4000500"/>
            <a:chOff x="0" y="0"/>
            <a:chExt cx="2381400" cy="4000500"/>
          </a:xfrm>
        </p:grpSpPr>
        <p:sp>
          <p:nvSpPr>
            <p:cNvPr id="532" name="Google Shape;532;p52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52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Charts (4 types)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Pie: overall present / absent / late split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Line: monthly attendance trend over semester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Bar: course-wise attendance % comparison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Doughnut: per-course proportional breakdown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34" name="Google Shape;534;p52"/>
          <p:cNvGrpSpPr/>
          <p:nvPr/>
        </p:nvGrpSpPr>
        <p:grpSpPr>
          <a:xfrm>
            <a:off x="8667750" y="1905000"/>
            <a:ext cx="2381400" cy="4000500"/>
            <a:chOff x="0" y="0"/>
            <a:chExt cx="2381400" cy="4000500"/>
          </a:xfrm>
        </p:grpSpPr>
        <p:sp>
          <p:nvSpPr>
            <p:cNvPr id="535" name="Google Shape;535;p52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52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Overview Stats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Stat cards: overall %, present, absent, courses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Personal pie chart of attendance distribution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Monthly line chart of attendance trend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entury Gothic"/>
                <a:buChar char="●"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Auto-calculated across all enrolled courses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37" name="Google Shape;537;p52"/>
          <p:cNvSpPr txBox="1"/>
          <p:nvPr/>
        </p:nvSpPr>
        <p:spPr>
          <a:xfrm>
            <a:off x="8572500" y="6286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2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Student Dashboard</a:t>
            </a:r>
            <a:endParaRPr b="0" sz="12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3"/>
          <p:cNvSpPr/>
          <p:nvPr/>
        </p:nvSpPr>
        <p:spPr>
          <a:xfrm flipH="1" rot="10800000">
            <a:off x="-4189" y="714372"/>
            <a:ext cx="1588529" cy="507300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3" name="Google Shape;543;p53"/>
          <p:cNvSpPr txBox="1"/>
          <p:nvPr>
            <p:ph idx="12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4" name="Google Shape;544;p53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&amp; Visual Design</a:t>
            </a:r>
            <a:endParaRPr b="1" sz="32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Chart.js brings the data to life</a:t>
            </a:r>
            <a:endParaRPr b="0" sz="16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45" name="Google Shape;545;p53"/>
          <p:cNvGrpSpPr/>
          <p:nvPr/>
        </p:nvGrpSpPr>
        <p:grpSpPr>
          <a:xfrm>
            <a:off x="952500" y="1905000"/>
            <a:ext cx="2381400" cy="4000500"/>
            <a:chOff x="0" y="0"/>
            <a:chExt cx="2381400" cy="4000500"/>
          </a:xfrm>
        </p:grpSpPr>
        <p:sp>
          <p:nvSpPr>
            <p:cNvPr id="546" name="Google Shape;546;p53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53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▌▌▌▌</a:t>
              </a:r>
              <a:endParaRPr b="1" sz="24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Bar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Monthly + course-wise attendance %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48" name="Google Shape;548;p53"/>
          <p:cNvGrpSpPr/>
          <p:nvPr/>
        </p:nvGrpSpPr>
        <p:grpSpPr>
          <a:xfrm>
            <a:off x="3524250" y="1905000"/>
            <a:ext cx="2381400" cy="4000500"/>
            <a:chOff x="0" y="0"/>
            <a:chExt cx="2381400" cy="4000500"/>
          </a:xfrm>
        </p:grpSpPr>
        <p:sp>
          <p:nvSpPr>
            <p:cNvPr id="549" name="Google Shape;549;p53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53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∿∿∿</a:t>
              </a:r>
              <a:endParaRPr b="1" sz="24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Line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Attendance progression over time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51" name="Google Shape;551;p53"/>
          <p:cNvGrpSpPr/>
          <p:nvPr/>
        </p:nvGrpSpPr>
        <p:grpSpPr>
          <a:xfrm>
            <a:off x="6096000" y="1905000"/>
            <a:ext cx="2381400" cy="4000500"/>
            <a:chOff x="0" y="0"/>
            <a:chExt cx="2381400" cy="4000500"/>
          </a:xfrm>
        </p:grpSpPr>
        <p:sp>
          <p:nvSpPr>
            <p:cNvPr id="552" name="Google Shape;552;p53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53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◐◑◒</a:t>
              </a:r>
              <a:endParaRPr b="1" sz="24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Pie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Present / Absent / Late split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54" name="Google Shape;554;p53"/>
          <p:cNvGrpSpPr/>
          <p:nvPr/>
        </p:nvGrpSpPr>
        <p:grpSpPr>
          <a:xfrm>
            <a:off x="8667750" y="1905000"/>
            <a:ext cx="2381400" cy="4000500"/>
            <a:chOff x="0" y="0"/>
            <a:chExt cx="2381400" cy="4000500"/>
          </a:xfrm>
        </p:grpSpPr>
        <p:sp>
          <p:nvSpPr>
            <p:cNvPr id="555" name="Google Shape;555;p53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53"/>
            <p:cNvSpPr txBox="1"/>
            <p:nvPr/>
          </p:nvSpPr>
          <p:spPr>
            <a:xfrm>
              <a:off x="142875" y="142875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◎</a:t>
              </a:r>
              <a:endParaRPr b="1" sz="24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Doughnut</a:t>
              </a:r>
              <a:endParaRPr b="1" sz="1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System stats + per-course split</a:t>
              </a:r>
              <a:endParaRPr b="0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57" name="Google Shape;557;p53"/>
          <p:cNvSpPr txBox="1"/>
          <p:nvPr/>
        </p:nvSpPr>
        <p:spPr>
          <a:xfrm>
            <a:off x="952500" y="6096000"/>
            <a:ext cx="1028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Design system:</a:t>
            </a:r>
            <a:r>
              <a:rPr b="0" lang="en-IN" sz="1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Palette: deep navy + coral accents + mint / amber / crimson status colors • Typography: Inter via Google Fonts • Theme: dark / light toggle saved to localStorage • Charts dynamically created and destroyed on every page switch • Responsive breakpoint at 768px stacks the sidebar and panels</a:t>
            </a:r>
            <a:endParaRPr b="0" sz="10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4"/>
          <p:cNvSpPr/>
          <p:nvPr/>
        </p:nvSpPr>
        <p:spPr>
          <a:xfrm flipH="1">
            <a:off x="-4217" y="714300"/>
            <a:ext cx="1598100" cy="507300"/>
          </a:xfrm>
          <a:custGeom>
            <a:rect b="b" l="l" r="r" t="t"/>
            <a:pathLst>
              <a:path extrusionOk="0" h="120000" w="12000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3" name="Google Shape;563;p54"/>
          <p:cNvGrpSpPr/>
          <p:nvPr/>
        </p:nvGrpSpPr>
        <p:grpSpPr>
          <a:xfrm>
            <a:off x="1762125" y="571500"/>
            <a:ext cx="9525000" cy="1143000"/>
            <a:chOff x="0" y="0"/>
            <a:chExt cx="9525000" cy="1143000"/>
          </a:xfrm>
        </p:grpSpPr>
        <p:sp>
          <p:nvSpPr>
            <p:cNvPr id="564" name="Google Shape;564;p54"/>
            <p:cNvSpPr/>
            <p:nvPr/>
          </p:nvSpPr>
          <p:spPr>
            <a:xfrm>
              <a:off x="0" y="0"/>
              <a:ext cx="9525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54"/>
            <p:cNvSpPr txBox="1"/>
            <p:nvPr/>
          </p:nvSpPr>
          <p:spPr>
            <a:xfrm>
              <a:off x="0" y="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2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Feature Highlights</a:t>
              </a:r>
              <a:endParaRPr b="1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6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What makes the build complete</a:t>
              </a:r>
              <a:endParaRPr b="0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66" name="Google Shape;566;p54"/>
          <p:cNvGrpSpPr/>
          <p:nvPr/>
        </p:nvGrpSpPr>
        <p:grpSpPr>
          <a:xfrm>
            <a:off x="952500" y="1905000"/>
            <a:ext cx="10096650" cy="3619500"/>
            <a:chOff x="0" y="0"/>
            <a:chExt cx="10096650" cy="3619500"/>
          </a:xfrm>
        </p:grpSpPr>
        <p:grpSp>
          <p:nvGrpSpPr>
            <p:cNvPr id="567" name="Google Shape;567;p54"/>
            <p:cNvGrpSpPr/>
            <p:nvPr/>
          </p:nvGrpSpPr>
          <p:grpSpPr>
            <a:xfrm>
              <a:off x="0" y="0"/>
              <a:ext cx="2381400" cy="1714500"/>
              <a:chOff x="0" y="0"/>
              <a:chExt cx="2381400" cy="1714500"/>
            </a:xfrm>
          </p:grpSpPr>
          <p:sp>
            <p:nvSpPr>
              <p:cNvPr id="568" name="Google Shape;568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Auth</a:t>
                </a:r>
                <a:endParaRPr b="1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Role-based login for 3 user types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70" name="Google Shape;570;p54"/>
            <p:cNvGrpSpPr/>
            <p:nvPr/>
          </p:nvGrpSpPr>
          <p:grpSpPr>
            <a:xfrm>
              <a:off x="2571750" y="0"/>
              <a:ext cx="2381400" cy="1714500"/>
              <a:chOff x="0" y="0"/>
              <a:chExt cx="2381400" cy="1714500"/>
            </a:xfrm>
          </p:grpSpPr>
          <p:sp>
            <p:nvSpPr>
              <p:cNvPr id="571" name="Google Shape;571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CRUD</a:t>
                </a:r>
                <a:endParaRPr b="1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 can add, edit, delete users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73" name="Google Shape;573;p54"/>
            <p:cNvGrpSpPr/>
            <p:nvPr/>
          </p:nvGrpSpPr>
          <p:grpSpPr>
            <a:xfrm>
              <a:off x="5143500" y="0"/>
              <a:ext cx="2381400" cy="1714500"/>
              <a:chOff x="0" y="0"/>
              <a:chExt cx="2381400" cy="1714500"/>
            </a:xfrm>
          </p:grpSpPr>
          <p:sp>
            <p:nvSpPr>
              <p:cNvPr id="574" name="Google Shape;574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Calendar</a:t>
                </a:r>
                <a:endParaRPr b="1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Native date pickers for all filters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76" name="Google Shape;576;p54"/>
            <p:cNvGrpSpPr/>
            <p:nvPr/>
          </p:nvGrpSpPr>
          <p:grpSpPr>
            <a:xfrm>
              <a:off x="7715250" y="0"/>
              <a:ext cx="2381400" cy="1714500"/>
              <a:chOff x="0" y="0"/>
              <a:chExt cx="2381400" cy="1714500"/>
            </a:xfrm>
          </p:grpSpPr>
          <p:sp>
            <p:nvSpPr>
              <p:cNvPr id="577" name="Google Shape;577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Progress</a:t>
                </a:r>
                <a:endParaRPr b="1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Color-coded bars for attendance %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79" name="Google Shape;579;p54"/>
            <p:cNvGrpSpPr/>
            <p:nvPr/>
          </p:nvGrpSpPr>
          <p:grpSpPr>
            <a:xfrm>
              <a:off x="0" y="1905000"/>
              <a:ext cx="2381400" cy="1714500"/>
              <a:chOff x="0" y="0"/>
              <a:chExt cx="2381400" cy="1714500"/>
            </a:xfrm>
          </p:grpSpPr>
          <p:sp>
            <p:nvSpPr>
              <p:cNvPr id="580" name="Google Shape;580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Audit</a:t>
                </a:r>
                <a:endParaRPr b="1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Every change is logged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82" name="Google Shape;582;p54"/>
            <p:cNvGrpSpPr/>
            <p:nvPr/>
          </p:nvGrpSpPr>
          <p:grpSpPr>
            <a:xfrm>
              <a:off x="2571750" y="1905000"/>
              <a:ext cx="2381400" cy="1714500"/>
              <a:chOff x="0" y="0"/>
              <a:chExt cx="2381400" cy="1714500"/>
            </a:xfrm>
          </p:grpSpPr>
          <p:sp>
            <p:nvSpPr>
              <p:cNvPr id="583" name="Google Shape;583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Responsive</a:t>
                </a:r>
                <a:endParaRPr b="1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Mobile-friendly below 768px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85" name="Google Shape;585;p54"/>
            <p:cNvGrpSpPr/>
            <p:nvPr/>
          </p:nvGrpSpPr>
          <p:grpSpPr>
            <a:xfrm>
              <a:off x="5143500" y="1905000"/>
              <a:ext cx="2381400" cy="1714500"/>
              <a:chOff x="0" y="0"/>
              <a:chExt cx="2381400" cy="1714500"/>
            </a:xfrm>
          </p:grpSpPr>
          <p:sp>
            <p:nvSpPr>
              <p:cNvPr id="586" name="Google Shape;586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Theme</a:t>
                </a:r>
                <a:endParaRPr b="1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Dark / light mode toggle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588" name="Google Shape;588;p54"/>
            <p:cNvGrpSpPr/>
            <p:nvPr/>
          </p:nvGrpSpPr>
          <p:grpSpPr>
            <a:xfrm>
              <a:off x="7715250" y="1905000"/>
              <a:ext cx="2381400" cy="1714500"/>
              <a:chOff x="0" y="0"/>
              <a:chExt cx="2381400" cy="1714500"/>
            </a:xfrm>
          </p:grpSpPr>
          <p:sp>
            <p:nvSpPr>
              <p:cNvPr id="589" name="Google Shape;589;p54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54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Seeded Data</a:t>
                </a:r>
                <a:endParaRPr b="1" sz="1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IN" sz="11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750+ records pre-loaded</a:t>
                </a:r>
                <a:endParaRPr b="0" sz="11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grpSp>
        <p:nvGrpSpPr>
          <p:cNvPr id="591" name="Google Shape;591;p54"/>
          <p:cNvGrpSpPr/>
          <p:nvPr/>
        </p:nvGrpSpPr>
        <p:grpSpPr>
          <a:xfrm>
            <a:off x="952500" y="5905500"/>
            <a:ext cx="10287000" cy="762000"/>
            <a:chOff x="0" y="0"/>
            <a:chExt cx="10287000" cy="762000"/>
          </a:xfrm>
        </p:grpSpPr>
        <p:sp>
          <p:nvSpPr>
            <p:cNvPr id="592" name="Google Shape;592;p54"/>
            <p:cNvSpPr/>
            <p:nvPr/>
          </p:nvSpPr>
          <p:spPr>
            <a:xfrm>
              <a:off x="0" y="0"/>
              <a:ext cx="10287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54"/>
            <p:cNvSpPr txBox="1"/>
            <p:nvPr/>
          </p:nvSpPr>
          <p:spPr>
            <a:xfrm>
              <a:off x="0" y="0"/>
              <a:ext cx="1028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PLANNED • QR attendance • Performance analyzer • Leave requests • PDF / Excel exports • Email alerts</a:t>
              </a:r>
              <a:endParaRPr b="1" sz="1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Why this matters: Self-contained demo — no server, no setup, no signup. Open the HTML and it works.</a:t>
              </a:r>
              <a:endParaRPr b="0" sz="1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94" name="Google Shape;594;p54"/>
          <p:cNvSpPr txBox="1"/>
          <p:nvPr>
            <p:ph idx="4294967295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5"/>
          <p:cNvSpPr/>
          <p:nvPr/>
        </p:nvSpPr>
        <p:spPr>
          <a:xfrm flipH="1" rot="10800000">
            <a:off x="-4196" y="714370"/>
            <a:ext cx="1598100" cy="507300"/>
          </a:xfrm>
          <a:custGeom>
            <a:rect b="b" l="l" r="r" t="t"/>
            <a:pathLst>
              <a:path extrusionOk="0" h="120000" w="12000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5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Metrics</a:t>
            </a:r>
            <a:endParaRPr b="1" sz="32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build at a glance</a:t>
            </a:r>
            <a:endParaRPr b="0" sz="16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01" name="Google Shape;601;p55"/>
          <p:cNvGrpSpPr/>
          <p:nvPr/>
        </p:nvGrpSpPr>
        <p:grpSpPr>
          <a:xfrm>
            <a:off x="952500" y="2095500"/>
            <a:ext cx="10096650" cy="3619500"/>
            <a:chOff x="0" y="0"/>
            <a:chExt cx="10096650" cy="3619500"/>
          </a:xfrm>
        </p:grpSpPr>
        <p:grpSp>
          <p:nvGrpSpPr>
            <p:cNvPr id="602" name="Google Shape;602;p55"/>
            <p:cNvGrpSpPr/>
            <p:nvPr/>
          </p:nvGrpSpPr>
          <p:grpSpPr>
            <a:xfrm>
              <a:off x="0" y="0"/>
              <a:ext cx="2381400" cy="1714500"/>
              <a:chOff x="0" y="0"/>
              <a:chExt cx="2381400" cy="1714500"/>
            </a:xfrm>
          </p:grpSpPr>
          <p:sp>
            <p:nvSpPr>
              <p:cNvPr id="603" name="Google Shape;603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3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3</a:t>
                </a:r>
                <a:endParaRPr b="1" sz="3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Role-based dashboards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05" name="Google Shape;605;p55"/>
            <p:cNvGrpSpPr/>
            <p:nvPr/>
          </p:nvGrpSpPr>
          <p:grpSpPr>
            <a:xfrm>
              <a:off x="2571750" y="0"/>
              <a:ext cx="2381400" cy="1714500"/>
              <a:chOff x="0" y="0"/>
              <a:chExt cx="2381400" cy="1714500"/>
            </a:xfrm>
          </p:grpSpPr>
          <p:sp>
            <p:nvSpPr>
              <p:cNvPr id="606" name="Google Shape;606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3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5</a:t>
                </a:r>
                <a:endParaRPr b="1" sz="3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BTech CS courses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08" name="Google Shape;608;p55"/>
            <p:cNvGrpSpPr/>
            <p:nvPr/>
          </p:nvGrpSpPr>
          <p:grpSpPr>
            <a:xfrm>
              <a:off x="5143500" y="0"/>
              <a:ext cx="2381400" cy="1714500"/>
              <a:chOff x="0" y="0"/>
              <a:chExt cx="2381400" cy="1714500"/>
            </a:xfrm>
          </p:grpSpPr>
          <p:sp>
            <p:nvSpPr>
              <p:cNvPr id="609" name="Google Shape;609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3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10</a:t>
                </a:r>
                <a:endParaRPr b="1" sz="3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Pre-loaded students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11" name="Google Shape;611;p55"/>
            <p:cNvGrpSpPr/>
            <p:nvPr/>
          </p:nvGrpSpPr>
          <p:grpSpPr>
            <a:xfrm>
              <a:off x="7715250" y="0"/>
              <a:ext cx="2381400" cy="1714500"/>
              <a:chOff x="0" y="0"/>
              <a:chExt cx="2381400" cy="1714500"/>
            </a:xfrm>
          </p:grpSpPr>
          <p:sp>
            <p:nvSpPr>
              <p:cNvPr id="612" name="Google Shape;612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3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750+</a:t>
                </a:r>
                <a:endParaRPr b="1" sz="3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Sample attendance rows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14" name="Google Shape;614;p55"/>
            <p:cNvGrpSpPr/>
            <p:nvPr/>
          </p:nvGrpSpPr>
          <p:grpSpPr>
            <a:xfrm>
              <a:off x="0" y="1905000"/>
              <a:ext cx="2381400" cy="1714500"/>
              <a:chOff x="0" y="0"/>
              <a:chExt cx="2381400" cy="1714500"/>
            </a:xfrm>
          </p:grpSpPr>
          <p:sp>
            <p:nvSpPr>
              <p:cNvPr id="615" name="Google Shape;615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3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4</a:t>
                </a:r>
                <a:endParaRPr b="1" sz="3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Chart.js chart types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17" name="Google Shape;617;p55"/>
            <p:cNvGrpSpPr/>
            <p:nvPr/>
          </p:nvGrpSpPr>
          <p:grpSpPr>
            <a:xfrm>
              <a:off x="2571750" y="1905000"/>
              <a:ext cx="2381400" cy="1714500"/>
              <a:chOff x="0" y="0"/>
              <a:chExt cx="2381400" cy="1714500"/>
            </a:xfrm>
          </p:grpSpPr>
          <p:sp>
            <p:nvSpPr>
              <p:cNvPr id="618" name="Google Shape;618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3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~2,200</a:t>
                </a:r>
                <a:endParaRPr b="1" sz="3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Total lines of code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20" name="Google Shape;620;p55"/>
            <p:cNvGrpSpPr/>
            <p:nvPr/>
          </p:nvGrpSpPr>
          <p:grpSpPr>
            <a:xfrm>
              <a:off x="5143500" y="1905000"/>
              <a:ext cx="2381400" cy="1714500"/>
              <a:chOff x="0" y="0"/>
              <a:chExt cx="2381400" cy="1714500"/>
            </a:xfrm>
          </p:grpSpPr>
          <p:sp>
            <p:nvSpPr>
              <p:cNvPr id="621" name="Google Shape;621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3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</a:t>
                </a:r>
                <a:endParaRPr b="1" sz="3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External dependency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23" name="Google Shape;623;p55"/>
            <p:cNvGrpSpPr/>
            <p:nvPr/>
          </p:nvGrpSpPr>
          <p:grpSpPr>
            <a:xfrm>
              <a:off x="7715250" y="1905000"/>
              <a:ext cx="2381400" cy="1714500"/>
              <a:chOff x="0" y="0"/>
              <a:chExt cx="2381400" cy="1714500"/>
            </a:xfrm>
          </p:grpSpPr>
          <p:sp>
            <p:nvSpPr>
              <p:cNvPr id="624" name="Google Shape;624;p55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55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36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</a:t>
                </a:r>
                <a:endParaRPr b="1" sz="36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Backend services</a:t>
                </a:r>
                <a:endParaRPr sz="12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626" name="Google Shape;626;p55"/>
          <p:cNvSpPr txBox="1"/>
          <p:nvPr/>
        </p:nvSpPr>
        <p:spPr>
          <a:xfrm>
            <a:off x="952500" y="60960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— Smart Attendance &amp; Performance Analyzer</a:t>
            </a:r>
            <a:endParaRPr b="1" sz="10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7" name="Google Shape;627;p55"/>
          <p:cNvSpPr txBox="1"/>
          <p:nvPr>
            <p:ph idx="4294967295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6"/>
          <p:cNvSpPr/>
          <p:nvPr/>
        </p:nvSpPr>
        <p:spPr>
          <a:xfrm flipH="1" rot="10800000">
            <a:off x="-4200" y="714364"/>
            <a:ext cx="1598100" cy="507300"/>
          </a:xfrm>
          <a:custGeom>
            <a:rect b="b" l="l" r="r" t="t"/>
            <a:pathLst>
              <a:path extrusionOk="0" h="120000" w="120000">
                <a:moveTo>
                  <a:pt x="119293" y="56410"/>
                </a:moveTo>
                <a:lnTo>
                  <a:pt x="102097" y="2253"/>
                </a:lnTo>
                <a:cubicBezTo>
                  <a:pt x="101981" y="1869"/>
                  <a:pt x="101838" y="1514"/>
                  <a:pt x="101724" y="1130"/>
                </a:cubicBezTo>
                <a:cubicBezTo>
                  <a:pt x="101375" y="0"/>
                  <a:pt x="101014" y="0"/>
                  <a:pt x="100652" y="0"/>
                </a:cubicBezTo>
                <a:lnTo>
                  <a:pt x="93841" y="0"/>
                </a:lnTo>
                <a:lnTo>
                  <a:pt x="0" y="840"/>
                </a:lnTo>
                <a:cubicBezTo>
                  <a:pt x="103" y="40562"/>
                  <a:pt x="220" y="80278"/>
                  <a:pt x="323" y="120000"/>
                </a:cubicBezTo>
                <a:lnTo>
                  <a:pt x="93841" y="119592"/>
                </a:lnTo>
                <a:lnTo>
                  <a:pt x="100652" y="119592"/>
                </a:lnTo>
                <a:cubicBezTo>
                  <a:pt x="101014" y="119592"/>
                  <a:pt x="101375" y="118462"/>
                  <a:pt x="101724" y="118462"/>
                </a:cubicBezTo>
                <a:cubicBezTo>
                  <a:pt x="101724" y="117333"/>
                  <a:pt x="102097" y="117333"/>
                  <a:pt x="102097" y="117333"/>
                </a:cubicBezTo>
                <a:lnTo>
                  <a:pt x="119293" y="63181"/>
                </a:lnTo>
                <a:cubicBezTo>
                  <a:pt x="120000" y="60923"/>
                  <a:pt x="120000" y="58669"/>
                  <a:pt x="119293" y="56410"/>
                </a:cubicBezTo>
                <a:close/>
              </a:path>
            </a:pathLst>
          </a:custGeom>
          <a:solidFill>
            <a:srgbClr val="A5301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56"/>
          <p:cNvSpPr txBox="1"/>
          <p:nvPr/>
        </p:nvSpPr>
        <p:spPr>
          <a:xfrm>
            <a:off x="1762125" y="571500"/>
            <a:ext cx="9525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END OF SHOWCASE</a:t>
            </a:r>
            <a:endParaRPr b="1" sz="36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 for your time and attention.</a:t>
            </a:r>
            <a:endParaRPr b="0" sz="1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4" name="Google Shape;634;p56"/>
          <p:cNvSpPr txBox="1"/>
          <p:nvPr/>
        </p:nvSpPr>
        <p:spPr>
          <a:xfrm>
            <a:off x="1762125" y="1714500"/>
            <a:ext cx="866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Questions, feedback, and ideas are welcome.</a:t>
            </a:r>
            <a:endParaRPr b="1" sz="200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635" name="Google Shape;635;p56"/>
          <p:cNvGrpSpPr/>
          <p:nvPr/>
        </p:nvGrpSpPr>
        <p:grpSpPr>
          <a:xfrm>
            <a:off x="1762125" y="2381250"/>
            <a:ext cx="8667750" cy="2095500"/>
            <a:chOff x="0" y="0"/>
            <a:chExt cx="8667750" cy="2095500"/>
          </a:xfrm>
        </p:grpSpPr>
        <p:grpSp>
          <p:nvGrpSpPr>
            <p:cNvPr id="636" name="Google Shape;636;p56"/>
            <p:cNvGrpSpPr/>
            <p:nvPr/>
          </p:nvGrpSpPr>
          <p:grpSpPr>
            <a:xfrm>
              <a:off x="0" y="0"/>
              <a:ext cx="4191000" cy="952500"/>
              <a:chOff x="0" y="0"/>
              <a:chExt cx="4191000" cy="952500"/>
            </a:xfrm>
          </p:grpSpPr>
          <p:sp>
            <p:nvSpPr>
              <p:cNvPr id="637" name="Google Shape;637;p56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56"/>
              <p:cNvSpPr txBox="1"/>
              <p:nvPr/>
            </p:nvSpPr>
            <p:spPr>
              <a:xfrm>
                <a:off x="190500" y="0"/>
                <a:ext cx="381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4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 Login</a:t>
                </a:r>
                <a:endParaRPr b="1" sz="1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User: </a:t>
                </a:r>
                <a:r>
                  <a:rPr b="1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admin</a:t>
                </a: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 | Pass: </a:t>
                </a:r>
                <a:r>
                  <a:rPr b="1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123456</a:t>
                </a:r>
                <a:endParaRPr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39" name="Google Shape;639;p56"/>
            <p:cNvGrpSpPr/>
            <p:nvPr/>
          </p:nvGrpSpPr>
          <p:grpSpPr>
            <a:xfrm>
              <a:off x="4476750" y="0"/>
              <a:ext cx="4191000" cy="952500"/>
              <a:chOff x="0" y="0"/>
              <a:chExt cx="4191000" cy="952500"/>
            </a:xfrm>
          </p:grpSpPr>
          <p:sp>
            <p:nvSpPr>
              <p:cNvPr id="640" name="Google Shape;640;p56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56"/>
              <p:cNvSpPr txBox="1"/>
              <p:nvPr/>
            </p:nvSpPr>
            <p:spPr>
              <a:xfrm>
                <a:off x="190500" y="0"/>
                <a:ext cx="381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4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Teacher Logins</a:t>
                </a:r>
                <a:endParaRPr b="1" sz="1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Courses: </a:t>
                </a:r>
                <a:r>
                  <a:rPr b="1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ds · dbms · os · cn · se</a:t>
                </a:r>
                <a:endParaRPr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595959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(Passwords default to 123456)</a:t>
                </a:r>
                <a:endParaRPr sz="1100">
                  <a:solidFill>
                    <a:srgbClr val="595959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42" name="Google Shape;642;p56"/>
            <p:cNvGrpSpPr/>
            <p:nvPr/>
          </p:nvGrpSpPr>
          <p:grpSpPr>
            <a:xfrm>
              <a:off x="0" y="1143000"/>
              <a:ext cx="4191000" cy="952500"/>
              <a:chOff x="0" y="0"/>
              <a:chExt cx="4191000" cy="952500"/>
            </a:xfrm>
          </p:grpSpPr>
          <p:sp>
            <p:nvSpPr>
              <p:cNvPr id="643" name="Google Shape;643;p56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56"/>
              <p:cNvSpPr txBox="1"/>
              <p:nvPr/>
            </p:nvSpPr>
            <p:spPr>
              <a:xfrm>
                <a:off x="190500" y="0"/>
                <a:ext cx="381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4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Student Logins</a:t>
                </a:r>
                <a:endParaRPr b="1" sz="1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ID Range: </a:t>
                </a:r>
                <a:r>
                  <a:rPr b="1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CS2024001 – CS2024010</a:t>
                </a:r>
                <a:endParaRPr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grpSp>
          <p:nvGrpSpPr>
            <p:cNvPr id="645" name="Google Shape;645;p56"/>
            <p:cNvGrpSpPr/>
            <p:nvPr/>
          </p:nvGrpSpPr>
          <p:grpSpPr>
            <a:xfrm>
              <a:off x="4476750" y="1143000"/>
              <a:ext cx="4191000" cy="952500"/>
              <a:chOff x="0" y="0"/>
              <a:chExt cx="4191000" cy="952500"/>
            </a:xfrm>
          </p:grpSpPr>
          <p:sp>
            <p:nvSpPr>
              <p:cNvPr id="646" name="Google Shape;646;p56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56"/>
              <p:cNvSpPr txBox="1"/>
              <p:nvPr/>
            </p:nvSpPr>
            <p:spPr>
              <a:xfrm>
                <a:off x="190500" y="0"/>
                <a:ext cx="3810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400">
                    <a:solidFill>
                      <a:srgbClr val="A5301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System Defaults</a:t>
                </a:r>
                <a:endParaRPr b="1" sz="1400">
                  <a:solidFill>
                    <a:srgbClr val="A5301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Default password: </a:t>
                </a:r>
                <a:r>
                  <a:rPr b="1" lang="en-IN" sz="1200">
                    <a:solidFill>
                      <a:srgbClr val="000000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123456</a:t>
                </a:r>
                <a:endParaRPr sz="1200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648" name="Google Shape;648;p56"/>
          <p:cNvSpPr txBox="1"/>
          <p:nvPr/>
        </p:nvSpPr>
        <p:spPr>
          <a:xfrm>
            <a:off x="1762125" y="6096000"/>
            <a:ext cx="952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SAPA • Smart Attendance &amp; Performance Analyzer • v1.0</a:t>
            </a:r>
            <a:endParaRPr b="1" sz="10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9" name="Google Shape;649;p56"/>
          <p:cNvSpPr txBox="1"/>
          <p:nvPr>
            <p:ph idx="4294967295" type="sldNum"/>
          </p:nvPr>
        </p:nvSpPr>
        <p:spPr>
          <a:xfrm>
            <a:off x="531812" y="787782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7"/>
          <p:cNvSpPr txBox="1"/>
          <p:nvPr>
            <p:ph idx="12" type="sldNum"/>
          </p:nvPr>
        </p:nvSpPr>
        <p:spPr>
          <a:xfrm>
            <a:off x="11222029" y="6338155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55" name="Google Shape;655;p57"/>
          <p:cNvSpPr/>
          <p:nvPr/>
        </p:nvSpPr>
        <p:spPr>
          <a:xfrm>
            <a:off x="5057618" y="2967335"/>
            <a:ext cx="36471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4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  <p:sp>
        <p:nvSpPr>
          <p:cNvPr id="656" name="Google Shape;656;p57"/>
          <p:cNvSpPr/>
          <p:nvPr/>
        </p:nvSpPr>
        <p:spPr>
          <a:xfrm>
            <a:off x="5310893" y="4262735"/>
            <a:ext cx="282000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5400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Queries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