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entury Gothic" panose="020B0502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91176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026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4944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7494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9074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118f3e867_0_4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f118f3e867_0_4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3705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118f3e867_0_47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3f118f3e867_0_4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5266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118f3e867_0_5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3f118f3e867_0_5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833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118f3e867_0_58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3f118f3e867_0_5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383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118f3e867_0_63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g3f118f3e867_0_6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872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118f3e867_0_69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3f118f3e867_0_69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5929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118f3e867_0_75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g3f118f3e867_0_7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8353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118f3e867_0_8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3f118f3e867_0_8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5168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118f3e867_0_87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g3f118f3e867_0_8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4800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7713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1000"/>
              </a:spcBef>
              <a:spcAft>
                <a:spcPts val="0"/>
              </a:spcAft>
              <a:buSzPts val="2400"/>
              <a:buChar char="🠶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55600" algn="l">
              <a:spcBef>
                <a:spcPts val="1000"/>
              </a:spcBef>
              <a:spcAft>
                <a:spcPts val="0"/>
              </a:spcAft>
              <a:buSzPts val="2000"/>
              <a:buChar char="🠶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30200" algn="l">
              <a:spcBef>
                <a:spcPts val="1000"/>
              </a:spcBef>
              <a:spcAft>
                <a:spcPts val="0"/>
              </a:spcAft>
              <a:buSzPts val="1600"/>
              <a:buChar char="🠶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/>
          <p:nvPr/>
        </p:nvSpPr>
        <p:spPr>
          <a:xfrm flipH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5"/>
          <p:cNvSpPr txBox="1">
            <a:spLocks noGrp="1"/>
          </p:cNvSpPr>
          <p:nvPr>
            <p:ph type="sldNum" idx="12"/>
          </p:nvPr>
        </p:nvSpPr>
        <p:spPr>
          <a:xfrm>
            <a:off x="11222029" y="6338155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5710" y="0"/>
            <a:ext cx="1457325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3395" y="-394223"/>
            <a:ext cx="1017037" cy="1808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6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2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" name="Google Shape;81;p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" name="Google Shape;91;p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0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0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1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1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2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12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3" name="Google Shape;123;p1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3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4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15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1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4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400" cy="1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0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20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2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2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1000"/>
              </a:spcBef>
              <a:spcAft>
                <a:spcPts val="0"/>
              </a:spcAft>
              <a:buSzPts val="2400"/>
              <a:buChar char="🠶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55600" algn="l">
              <a:spcBef>
                <a:spcPts val="1000"/>
              </a:spcBef>
              <a:spcAft>
                <a:spcPts val="0"/>
              </a:spcAft>
              <a:buSzPts val="2000"/>
              <a:buChar char="🠶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30200" algn="l">
              <a:spcBef>
                <a:spcPts val="1000"/>
              </a:spcBef>
              <a:spcAft>
                <a:spcPts val="0"/>
              </a:spcAft>
              <a:buSzPts val="1600"/>
              <a:buChar char="🠶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2"/>
          <p:cNvSpPr/>
          <p:nvPr/>
        </p:nvSpPr>
        <p:spPr>
          <a:xfrm flipH="1">
            <a:off x="10587854" y="6247184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p22"/>
          <p:cNvSpPr txBox="1">
            <a:spLocks noGrp="1"/>
          </p:cNvSpPr>
          <p:nvPr>
            <p:ph type="sldNum" idx="12"/>
          </p:nvPr>
        </p:nvSpPr>
        <p:spPr>
          <a:xfrm>
            <a:off x="11222029" y="6338155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5710" y="0"/>
            <a:ext cx="1457325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3395" y="-394223"/>
            <a:ext cx="1017037" cy="1808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>
            <a:spLocks noGrp="1"/>
          </p:cNvSpPr>
          <p:nvPr>
            <p:ph type="title"/>
          </p:nvPr>
        </p:nvSpPr>
        <p:spPr>
          <a:xfrm>
            <a:off x="2589212" y="2058750"/>
            <a:ext cx="89154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body" idx="1"/>
          </p:nvPr>
        </p:nvSpPr>
        <p:spPr>
          <a:xfrm>
            <a:off x="2589212" y="3530129"/>
            <a:ext cx="89154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3"/>
          <p:cNvSpPr/>
          <p:nvPr/>
        </p:nvSpPr>
        <p:spPr>
          <a:xfrm rot="10800000" flipH="1">
            <a:off x="-4189" y="31781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p23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43140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2"/>
          </p:nvPr>
        </p:nvSpPr>
        <p:spPr>
          <a:xfrm>
            <a:off x="7190747" y="2126222"/>
            <a:ext cx="43140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4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5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p2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200" cy="9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6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50" name="Google Shape;250;p26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200" cy="4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6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2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7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50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27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9" name="Google Shape;259;p2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7"/>
          <p:cNvSpPr/>
          <p:nvPr/>
        </p:nvSpPr>
        <p:spPr>
          <a:xfrm rot="10800000" flipH="1">
            <a:off x="-4189" y="491172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p27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400" cy="31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8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400" cy="15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2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8"/>
          <p:cNvSpPr/>
          <p:nvPr/>
        </p:nvSpPr>
        <p:spPr>
          <a:xfrm rot="10800000" flipH="1">
            <a:off x="-4189" y="31781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28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40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9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73" name="Google Shape;273;p29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400" cy="15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9"/>
          <p:cNvSpPr/>
          <p:nvPr/>
        </p:nvSpPr>
        <p:spPr>
          <a:xfrm rot="10800000" flipH="1">
            <a:off x="-4189" y="31781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29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2467652" y="648005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11114852" y="290530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83" name="Google Shape;283;p3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0"/>
          <p:cNvSpPr/>
          <p:nvPr/>
        </p:nvSpPr>
        <p:spPr>
          <a:xfrm rot="10800000" flipH="1">
            <a:off x="-4189" y="491172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p30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40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1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90" name="Google Shape;290;p31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91" name="Google Shape;291;p3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1"/>
          <p:cNvSpPr/>
          <p:nvPr/>
        </p:nvSpPr>
        <p:spPr>
          <a:xfrm rot="10800000" flipH="1">
            <a:off x="-4189" y="491172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31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5" name="Google Shape;295;p31"/>
          <p:cNvSpPr txBox="1"/>
          <p:nvPr/>
        </p:nvSpPr>
        <p:spPr>
          <a:xfrm>
            <a:off x="2467652" y="648005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11114852" y="290530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400" cy="28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2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300" name="Google Shape;300;p32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301" name="Google Shape;301;p3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2"/>
          <p:cNvSpPr/>
          <p:nvPr/>
        </p:nvSpPr>
        <p:spPr>
          <a:xfrm rot="10800000" flipH="1">
            <a:off x="-4189" y="491172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32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3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308" name="Google Shape;308;p3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33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3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>
            <a:spLocks noGrp="1"/>
          </p:cNvSpPr>
          <p:nvPr>
            <p:ph type="title"/>
          </p:nvPr>
        </p:nvSpPr>
        <p:spPr>
          <a:xfrm rot="5400000">
            <a:off x="7756613" y="2165505"/>
            <a:ext cx="52839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4"/>
          <p:cNvSpPr txBox="1">
            <a:spLocks noGrp="1"/>
          </p:cNvSpPr>
          <p:nvPr>
            <p:ph type="body" idx="1"/>
          </p:nvPr>
        </p:nvSpPr>
        <p:spPr>
          <a:xfrm rot="5400000">
            <a:off x="3185762" y="30855"/>
            <a:ext cx="5283900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315" name="Google Shape;315;p3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34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3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(g3f119654ce8_139_0)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3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 (g3f119654ce8_132_0)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">
  <p:cSld name="Blank (g3f119654ce8_125_0)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 1">
  <p:cSld name="Blank (g3f119654ce8_111_0)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 1 1">
  <p:cSld name="Blank (g3f119654ce8_104_0)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 1 1 1">
  <p:cSld name="Blank (g3f119654ce8_97_0)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4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0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 1 1 1 1">
  <p:cSld name="Blank (g3f119654ce8_83_0)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4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 1 1 1 1 1">
  <p:cSld name="Blank (g3f119654ce8_30_0)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42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(g3f119654ce8_69_0)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" name="Google Shape;39;p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0" name="Google Shape;40;p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1" name="Google Shape;41;p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8"/>
          <p:cNvGrpSpPr/>
          <p:nvPr/>
        </p:nvGrpSpPr>
        <p:grpSpPr>
          <a:xfrm>
            <a:off x="-16" y="228598"/>
            <a:ext cx="2851500" cy="6638590"/>
            <a:chOff x="2487613" y="285750"/>
            <a:chExt cx="2428875" cy="5654676"/>
          </a:xfrm>
        </p:grpSpPr>
        <p:sp>
          <p:nvSpPr>
            <p:cNvPr id="166" name="Google Shape;166;p1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2573338" y="2817813"/>
              <a:ext cx="700088" cy="2835274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3148013" y="1282700"/>
              <a:ext cx="1768475" cy="3448051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27048" y="-791"/>
            <a:ext cx="2356623" cy="6853886"/>
            <a:chOff x="6627813" y="194833"/>
            <a:chExt cx="1952625" cy="5678918"/>
          </a:xfrm>
        </p:grpSpPr>
        <p:sp>
          <p:nvSpPr>
            <p:cNvPr id="179" name="Google Shape;179;p18"/>
            <p:cNvSpPr/>
            <p:nvPr/>
          </p:nvSpPr>
          <p:spPr>
            <a:xfrm>
              <a:off x="6627813" y="194833"/>
              <a:ext cx="409575" cy="3646489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7037388" y="3811588"/>
              <a:ext cx="457200" cy="185261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91" name="Google Shape;191;p18"/>
          <p:cNvSpPr/>
          <p:nvPr/>
        </p:nvSpPr>
        <p:spPr>
          <a:xfrm>
            <a:off x="0" y="0"/>
            <a:ext cx="183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18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>
            <a:spLocks noGrp="1"/>
          </p:cNvSpPr>
          <p:nvPr>
            <p:ph type="ctrTitle"/>
          </p:nvPr>
        </p:nvSpPr>
        <p:spPr>
          <a:xfrm>
            <a:off x="1899050" y="279476"/>
            <a:ext cx="8915400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/>
              <a:t/>
            </a:r>
            <a:br>
              <a:rPr lang="en-IN" sz="3600" b="1"/>
            </a:b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b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b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Attendance and Predictive Performance Analysis</a:t>
            </a:r>
            <a:r>
              <a:rPr lang="en-IN" sz="4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IN" sz="4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44"/>
          <p:cNvSpPr txBox="1">
            <a:spLocks noGrp="1"/>
          </p:cNvSpPr>
          <p:nvPr>
            <p:ph type="subTitle" idx="1"/>
          </p:nvPr>
        </p:nvSpPr>
        <p:spPr>
          <a:xfrm>
            <a:off x="5808675" y="3762600"/>
            <a:ext cx="5595900" cy="27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SzPct val="133333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IN" sz="2400" b="1" dirty="0"/>
              <a:t>                </a:t>
            </a: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Vinayak Kaushik (0827IT231146)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IN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Tanishq</a:t>
            </a: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Chhabra (0827IT231139)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IN" sz="24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b="1" smtClean="0"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IN" sz="2400" b="1" smtClean="0">
                <a:latin typeface="Times New Roman"/>
                <a:ea typeface="Times New Roman"/>
                <a:cs typeface="Times New Roman"/>
                <a:sym typeface="Times New Roman"/>
              </a:rPr>
              <a:t>Tanishq</a:t>
            </a:r>
            <a:r>
              <a:rPr lang="en-IN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Jaiswal (0827IT231140)</a:t>
            </a:r>
            <a:endParaRPr sz="2400" b="1"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IN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Prahlad</a:t>
            </a: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Kumawat</a:t>
            </a:r>
            <a:r>
              <a:rPr lang="en-I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(0827IT231099)</a:t>
            </a:r>
            <a:endParaRPr dirty="0"/>
          </a:p>
        </p:txBody>
      </p:sp>
      <p:pic>
        <p:nvPicPr>
          <p:cNvPr id="361" name="Google Shape;36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7059" y="-354166"/>
            <a:ext cx="1175716" cy="209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975" y="0"/>
            <a:ext cx="1620078" cy="138183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4"/>
          <p:cNvSpPr/>
          <p:nvPr/>
        </p:nvSpPr>
        <p:spPr>
          <a:xfrm>
            <a:off x="1420275" y="3922175"/>
            <a:ext cx="4388400" cy="20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2400" b="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Manish Vyas</a:t>
            </a:r>
            <a:r>
              <a:rPr lang="en-IN" sz="24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</a:t>
            </a:r>
            <a:endParaRPr sz="2400" b="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Guide: </a:t>
            </a:r>
            <a:endParaRPr sz="2400" b="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Rupesh Gurjar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4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370" name="Google Shape;370;p45"/>
          <p:cNvSpPr txBox="1"/>
          <p:nvPr/>
        </p:nvSpPr>
        <p:spPr>
          <a:xfrm>
            <a:off x="906625" y="604400"/>
            <a:ext cx="110490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190500" rIns="190500" bIns="1905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Smart Attendance &amp; Performance Analyzer</a:t>
            </a:r>
            <a:endParaRPr sz="28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role-based web dashboard system for BTech Computer Science</a:t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 • 5 Teachers • 10 Students • 5 CS Courses • Zero Backend</a:t>
            </a:r>
            <a:endParaRPr sz="16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225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 Stack:</a:t>
            </a:r>
            <a:endParaRPr sz="14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HTML5 | CSS3 | JavaScript | Chart.js | localStorage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SAPA?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focused look at the project goals and audience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●"/>
            </a:pPr>
            <a:r>
              <a:rPr lang="en-IN" sz="12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Purpose:</a:t>
            </a: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Digitize attendance for BTech CS programs and surface trends through charts.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●"/>
            </a:pPr>
            <a:r>
              <a:rPr lang="en-IN" sz="12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Who uses it:</a:t>
            </a: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Admins (manage users), Teachers (mark attendance), Students (track personal progress).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●"/>
            </a:pPr>
            <a:r>
              <a:rPr lang="en-IN" sz="12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Scope:</a:t>
            </a: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5 pre-loaded CS courses, 10 students, 5 teacher accounts, 750+ attendance records.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Metrics:</a:t>
            </a:r>
            <a:endParaRPr sz="14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v1.0 • Pure client-side • ~2,200 Total lines of code • 0 Backend services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4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377" name="Google Shape;377;p46"/>
          <p:cNvSpPr/>
          <p:nvPr/>
        </p:nvSpPr>
        <p:spPr>
          <a:xfrm rot="10800000" flipH="1">
            <a:off x="-4196" y="714370"/>
            <a:ext cx="1598100" cy="50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4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p46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Structure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Files, roles, and what each one owns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81" name="Google Shape;381;p46"/>
          <p:cNvGrpSpPr/>
          <p:nvPr/>
        </p:nvGrpSpPr>
        <p:grpSpPr>
          <a:xfrm>
            <a:off x="828675" y="1628775"/>
            <a:ext cx="4819800" cy="4819800"/>
            <a:chOff x="-123825" y="-85725"/>
            <a:chExt cx="4819800" cy="4819800"/>
          </a:xfrm>
        </p:grpSpPr>
        <p:pic>
          <p:nvPicPr>
            <p:cNvPr id="382" name="Google Shape;382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23825" y="-85725"/>
              <a:ext cx="4819800" cy="481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4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45720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46"/>
            <p:cNvSpPr txBox="1"/>
            <p:nvPr/>
          </p:nvSpPr>
          <p:spPr>
            <a:xfrm>
              <a:off x="190500" y="95250"/>
              <a:ext cx="41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Repository Layout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46"/>
            <p:cNvSpPr txBox="1"/>
            <p:nvPr/>
          </p:nvSpPr>
          <p:spPr>
            <a:xfrm>
              <a:off x="285750" y="666750"/>
              <a:ext cx="4000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Project/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index.html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dashboard.html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css/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└── style.css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js/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├── app.js (login)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├── data.js (storage)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└── dashboard.js (app)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objective.md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suggestion.md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status.md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└── build_ppt.py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6" name="Google Shape;386;p46"/>
          <p:cNvGrpSpPr/>
          <p:nvPr/>
        </p:nvGrpSpPr>
        <p:grpSpPr>
          <a:xfrm>
            <a:off x="5905500" y="1714500"/>
            <a:ext cx="5334000" cy="2000100"/>
            <a:chOff x="0" y="0"/>
            <a:chExt cx="5334000" cy="2000100"/>
          </a:xfrm>
        </p:grpSpPr>
        <p:sp>
          <p:nvSpPr>
            <p:cNvPr id="387" name="Google Shape;387;p46"/>
            <p:cNvSpPr/>
            <p:nvPr/>
          </p:nvSpPr>
          <p:spPr>
            <a:xfrm>
              <a:off x="0" y="0"/>
              <a:ext cx="5334000" cy="2000100"/>
            </a:xfrm>
            <a:prstGeom prst="roundRect">
              <a:avLst>
                <a:gd name="adj" fmla="val 714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8" name="Google Shape;388;p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46"/>
            <p:cNvSpPr txBox="1"/>
            <p:nvPr/>
          </p:nvSpPr>
          <p:spPr>
            <a:xfrm>
              <a:off x="190500" y="76200"/>
              <a:ext cx="495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Code Footprint</a:t>
              </a:r>
              <a:endParaRPr sz="14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0" name="Google Shape;390;p46"/>
            <p:cNvSpPr txBox="1"/>
            <p:nvPr/>
          </p:nvSpPr>
          <p:spPr>
            <a:xfrm>
              <a:off x="190500" y="523875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 b="1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HTML: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2 pages (login + dashboard shell)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 b="1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CSS: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728 lines, fully themed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 b="1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~1,400 lines across 3 files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 b="1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Docs: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objective.md, suggestion.md, status.md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 b="1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Deps: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1 — Chart.js via CDN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91" name="Google Shape;391;p46"/>
          <p:cNvGrpSpPr/>
          <p:nvPr/>
        </p:nvGrpSpPr>
        <p:grpSpPr>
          <a:xfrm>
            <a:off x="5905500" y="3905250"/>
            <a:ext cx="5334000" cy="2381400"/>
            <a:chOff x="0" y="0"/>
            <a:chExt cx="5334000" cy="2381400"/>
          </a:xfrm>
        </p:grpSpPr>
        <p:sp>
          <p:nvSpPr>
            <p:cNvPr id="392" name="Google Shape;392;p46"/>
            <p:cNvSpPr/>
            <p:nvPr/>
          </p:nvSpPr>
          <p:spPr>
            <a:xfrm>
              <a:off x="0" y="0"/>
              <a:ext cx="5334000" cy="2381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3" name="Google Shape;393;p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46"/>
            <p:cNvSpPr txBox="1"/>
            <p:nvPr/>
          </p:nvSpPr>
          <p:spPr>
            <a:xfrm>
              <a:off x="190500" y="76200"/>
              <a:ext cx="495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Key Facts</a:t>
              </a:r>
              <a:endParaRPr sz="14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5" name="Google Shape;395;p46"/>
            <p:cNvSpPr txBox="1"/>
            <p:nvPr/>
          </p:nvSpPr>
          <p:spPr>
            <a:xfrm>
              <a:off x="190500" y="523875"/>
              <a:ext cx="4953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Three role-aware menus, one shared SPA shell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All state lives in </a:t>
              </a:r>
              <a:r>
                <a:rPr lang="en-IN" sz="1100" b="1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localStorage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under sarpa_data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Charts re-render on every navigation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Dark / light theme saved to localStorage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 breakpoint at 768px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4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grpSp>
        <p:nvGrpSpPr>
          <p:cNvPr id="402" name="Google Shape;402;p47"/>
          <p:cNvGrpSpPr/>
          <p:nvPr/>
        </p:nvGrpSpPr>
        <p:grpSpPr>
          <a:xfrm>
            <a:off x="1762125" y="571500"/>
            <a:ext cx="9525000" cy="952500"/>
            <a:chOff x="0" y="0"/>
            <a:chExt cx="9525000" cy="952500"/>
          </a:xfrm>
        </p:grpSpPr>
        <p:sp>
          <p:nvSpPr>
            <p:cNvPr id="403" name="Google Shape;403;p47"/>
            <p:cNvSpPr/>
            <p:nvPr/>
          </p:nvSpPr>
          <p:spPr>
            <a:xfrm>
              <a:off x="0" y="0"/>
              <a:ext cx="9525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7"/>
            <p:cNvSpPr txBox="1"/>
            <p:nvPr/>
          </p:nvSpPr>
          <p:spPr>
            <a:xfrm>
              <a:off x="0" y="0"/>
              <a:ext cx="952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2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Technology Stack</a:t>
              </a:r>
              <a:endParaRPr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Every tool used in the build</a:t>
              </a:r>
              <a:endParaRPr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05" name="Google Shape;405;p47"/>
          <p:cNvGrpSpPr/>
          <p:nvPr/>
        </p:nvGrpSpPr>
        <p:grpSpPr>
          <a:xfrm>
            <a:off x="952500" y="1714500"/>
            <a:ext cx="10287000" cy="4572000"/>
            <a:chOff x="0" y="0"/>
            <a:chExt cx="10287000" cy="4572000"/>
          </a:xfrm>
        </p:grpSpPr>
        <p:sp>
          <p:nvSpPr>
            <p:cNvPr id="406" name="Google Shape;406;p47"/>
            <p:cNvSpPr/>
            <p:nvPr/>
          </p:nvSpPr>
          <p:spPr>
            <a:xfrm>
              <a:off x="0" y="0"/>
              <a:ext cx="102870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" name="Google Shape;407;p47"/>
            <p:cNvGrpSpPr/>
            <p:nvPr/>
          </p:nvGrpSpPr>
          <p:grpSpPr>
            <a:xfrm>
              <a:off x="0" y="0"/>
              <a:ext cx="3238500" cy="2095500"/>
              <a:chOff x="0" y="0"/>
              <a:chExt cx="3238500" cy="2095500"/>
            </a:xfrm>
          </p:grpSpPr>
          <p:sp>
            <p:nvSpPr>
              <p:cNvPr id="408" name="Google Shape;408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name="adj" fmla="val 681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HTML5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IN" sz="13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Semantic markup for login and SPA shell. Modal system, nav, &lt;canvas&gt; targets.</a:t>
                </a:r>
                <a:endParaRPr sz="13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0" name="Google Shape;410;p47"/>
            <p:cNvGrpSpPr/>
            <p:nvPr/>
          </p:nvGrpSpPr>
          <p:grpSpPr>
            <a:xfrm>
              <a:off x="3524250" y="0"/>
              <a:ext cx="3238500" cy="2095500"/>
              <a:chOff x="0" y="0"/>
              <a:chExt cx="3238500" cy="2095500"/>
            </a:xfrm>
          </p:grpSpPr>
          <p:sp>
            <p:nvSpPr>
              <p:cNvPr id="411" name="Google Shape;411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name="adj" fmla="val 681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CSS3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IN" sz="13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Custom-property theming, Grid + Flexbox. Dark/light mode, 728 lines of styling.</a:t>
                </a:r>
                <a:endParaRPr sz="13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3" name="Google Shape;413;p47"/>
            <p:cNvGrpSpPr/>
            <p:nvPr/>
          </p:nvGrpSpPr>
          <p:grpSpPr>
            <a:xfrm>
              <a:off x="7048500" y="0"/>
              <a:ext cx="3238500" cy="2095500"/>
              <a:chOff x="0" y="0"/>
              <a:chExt cx="3238500" cy="2095500"/>
            </a:xfrm>
          </p:grpSpPr>
          <p:sp>
            <p:nvSpPr>
              <p:cNvPr id="414" name="Google Shape;414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name="adj" fmla="val 681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JavaScript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IN" sz="13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Vanilla ES6+, IIFE modules. Event-driven SPA, no framework.</a:t>
                </a:r>
                <a:endParaRPr sz="13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6" name="Google Shape;416;p47"/>
            <p:cNvGrpSpPr/>
            <p:nvPr/>
          </p:nvGrpSpPr>
          <p:grpSpPr>
            <a:xfrm>
              <a:off x="0" y="2381250"/>
              <a:ext cx="3238500" cy="2095500"/>
              <a:chOff x="0" y="0"/>
              <a:chExt cx="3238500" cy="2095500"/>
            </a:xfrm>
          </p:grpSpPr>
          <p:sp>
            <p:nvSpPr>
              <p:cNvPr id="417" name="Google Shape;417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name="adj" fmla="val 681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Chart.js 4.4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IN" sz="13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Loaded via CDN. Bar, line, pie, doughnut charts.</a:t>
                </a:r>
                <a:endParaRPr sz="13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9" name="Google Shape;419;p47"/>
            <p:cNvGrpSpPr/>
            <p:nvPr/>
          </p:nvGrpSpPr>
          <p:grpSpPr>
            <a:xfrm>
              <a:off x="3524250" y="2381250"/>
              <a:ext cx="3238500" cy="2095500"/>
              <a:chOff x="0" y="0"/>
              <a:chExt cx="3238500" cy="2095500"/>
            </a:xfrm>
          </p:grpSpPr>
          <p:sp>
            <p:nvSpPr>
              <p:cNvPr id="420" name="Google Shape;420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name="adj" fmla="val 681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localStorage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IN" sz="13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Browser-native persistence. JSON serialization, schema v3.</a:t>
                </a:r>
                <a:endParaRPr sz="13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22" name="Google Shape;422;p47"/>
            <p:cNvGrpSpPr/>
            <p:nvPr/>
          </p:nvGrpSpPr>
          <p:grpSpPr>
            <a:xfrm>
              <a:off x="7048500" y="2381250"/>
              <a:ext cx="3238500" cy="2095500"/>
              <a:chOff x="0" y="0"/>
              <a:chExt cx="3238500" cy="2095500"/>
            </a:xfrm>
          </p:grpSpPr>
          <p:sp>
            <p:nvSpPr>
              <p:cNvPr id="423" name="Google Shape;423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name="adj" fmla="val 681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Inter Font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IN" sz="13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Google Fonts CDN. Clean legibility across the UI.</a:t>
                </a:r>
                <a:endParaRPr sz="13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425" name="Google Shape;425;p47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Technology Stack</a:t>
            </a:r>
            <a:endParaRPr sz="12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4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432" name="Google Shape;432;p48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Model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Everything stored under localStorage key 'sarpa_data'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33" name="Google Shape;433;p48"/>
          <p:cNvGrpSpPr/>
          <p:nvPr/>
        </p:nvGrpSpPr>
        <p:grpSpPr>
          <a:xfrm>
            <a:off x="952500" y="1714500"/>
            <a:ext cx="10287150" cy="4381500"/>
            <a:chOff x="0" y="0"/>
            <a:chExt cx="10287150" cy="4381500"/>
          </a:xfrm>
        </p:grpSpPr>
        <p:grpSp>
          <p:nvGrpSpPr>
            <p:cNvPr id="434" name="Google Shape;434;p48"/>
            <p:cNvGrpSpPr/>
            <p:nvPr/>
          </p:nvGrpSpPr>
          <p:grpSpPr>
            <a:xfrm>
              <a:off x="0" y="0"/>
              <a:ext cx="3238500" cy="1428900"/>
              <a:chOff x="0" y="0"/>
              <a:chExt cx="3238500" cy="1428900"/>
            </a:xfrm>
          </p:grpSpPr>
          <p:sp>
            <p:nvSpPr>
              <p:cNvPr id="435" name="Google Shape;435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username, password, name, email }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37" name="Google Shape;437;p48"/>
            <p:cNvGrpSpPr/>
            <p:nvPr/>
          </p:nvGrpSpPr>
          <p:grpSpPr>
            <a:xfrm>
              <a:off x="3524250" y="0"/>
              <a:ext cx="3238500" cy="1428900"/>
              <a:chOff x="0" y="0"/>
              <a:chExt cx="3238500" cy="1428900"/>
            </a:xfrm>
          </p:grpSpPr>
          <p:sp>
            <p:nvSpPr>
              <p:cNvPr id="438" name="Google Shape;438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teachers[]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username, password, name, course, courseCode, email }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0" name="Google Shape;440;p48"/>
            <p:cNvGrpSpPr/>
            <p:nvPr/>
          </p:nvGrpSpPr>
          <p:grpSpPr>
            <a:xfrm>
              <a:off x="7048500" y="0"/>
              <a:ext cx="3238500" cy="1428900"/>
              <a:chOff x="0" y="0"/>
              <a:chExt cx="3238500" cy="1428900"/>
            </a:xfrm>
          </p:grpSpPr>
          <p:sp>
            <p:nvSpPr>
              <p:cNvPr id="441" name="Google Shape;441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students[]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rollno, name, email, batch, courses[], password }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3" name="Google Shape;443;p48"/>
            <p:cNvGrpSpPr/>
            <p:nvPr/>
          </p:nvGrpSpPr>
          <p:grpSpPr>
            <a:xfrm>
              <a:off x="0" y="1619250"/>
              <a:ext cx="3238500" cy="1428900"/>
              <a:chOff x="0" y="0"/>
              <a:chExt cx="3238500" cy="1428900"/>
            </a:xfrm>
          </p:grpSpPr>
          <p:sp>
            <p:nvSpPr>
              <p:cNvPr id="444" name="Google Shape;444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attendance[]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studentId, teacherId, courseCode, date, status, remarks }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6" name="Google Shape;446;p48"/>
            <p:cNvGrpSpPr/>
            <p:nvPr/>
          </p:nvGrpSpPr>
          <p:grpSpPr>
            <a:xfrm>
              <a:off x="3524250" y="1619250"/>
              <a:ext cx="3238500" cy="1428900"/>
              <a:chOff x="0" y="0"/>
              <a:chExt cx="3238500" cy="1428900"/>
            </a:xfrm>
          </p:grpSpPr>
          <p:sp>
            <p:nvSpPr>
              <p:cNvPr id="447" name="Google Shape;447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announcements[]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text, date, author }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9" name="Google Shape;449;p48"/>
            <p:cNvGrpSpPr/>
            <p:nvPr/>
          </p:nvGrpSpPr>
          <p:grpSpPr>
            <a:xfrm>
              <a:off x="7048500" y="1619250"/>
              <a:ext cx="3238500" cy="1428900"/>
              <a:chOff x="0" y="0"/>
              <a:chExt cx="3238500" cy="1428900"/>
            </a:xfrm>
          </p:grpSpPr>
          <p:sp>
            <p:nvSpPr>
              <p:cNvPr id="450" name="Google Shape;450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auditLog[]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timestamp, user, action }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52" name="Google Shape;452;p48"/>
            <p:cNvGrpSpPr/>
            <p:nvPr/>
          </p:nvGrpSpPr>
          <p:grpSpPr>
            <a:xfrm>
              <a:off x="0" y="3238500"/>
              <a:ext cx="4857900" cy="1143000"/>
              <a:chOff x="0" y="0"/>
              <a:chExt cx="4857900" cy="1143000"/>
            </a:xfrm>
          </p:grpSpPr>
          <p:sp>
            <p:nvSpPr>
              <p:cNvPr id="453" name="Google Shape;453;p48"/>
              <p:cNvSpPr/>
              <p:nvPr/>
            </p:nvSpPr>
            <p:spPr>
              <a:xfrm>
                <a:off x="0" y="0"/>
                <a:ext cx="4857900" cy="11430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48"/>
              <p:cNvSpPr txBox="1"/>
              <p:nvPr/>
            </p:nvSpPr>
            <p:spPr>
              <a:xfrm>
                <a:off x="190500" y="190500"/>
                <a:ext cx="4476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config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minAttendance, lateGraceMinutes, semester dates }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55" name="Google Shape;455;p48"/>
            <p:cNvGrpSpPr/>
            <p:nvPr/>
          </p:nvGrpSpPr>
          <p:grpSpPr>
            <a:xfrm>
              <a:off x="5429250" y="3238500"/>
              <a:ext cx="4857900" cy="1143000"/>
              <a:chOff x="0" y="0"/>
              <a:chExt cx="4857900" cy="1143000"/>
            </a:xfrm>
          </p:grpSpPr>
          <p:sp>
            <p:nvSpPr>
              <p:cNvPr id="456" name="Google Shape;456;p48"/>
              <p:cNvSpPr/>
              <p:nvPr/>
            </p:nvSpPr>
            <p:spPr>
              <a:xfrm>
                <a:off x="0" y="0"/>
                <a:ext cx="4857900" cy="11430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48"/>
              <p:cNvSpPr txBox="1"/>
              <p:nvPr/>
            </p:nvSpPr>
            <p:spPr>
              <a:xfrm>
                <a:off x="190500" y="190500"/>
                <a:ext cx="4476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version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3 (auto-migrated on schema change)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4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464" name="Google Shape;464;p49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Login &amp; Roles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Unified login page with role selector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65" name="Google Shape;465;p49"/>
          <p:cNvGrpSpPr/>
          <p:nvPr/>
        </p:nvGrpSpPr>
        <p:grpSpPr>
          <a:xfrm>
            <a:off x="952500" y="1714500"/>
            <a:ext cx="10287000" cy="4000650"/>
            <a:chOff x="0" y="0"/>
            <a:chExt cx="10287000" cy="4000650"/>
          </a:xfrm>
        </p:grpSpPr>
        <p:grpSp>
          <p:nvGrpSpPr>
            <p:cNvPr id="466" name="Google Shape;466;p49"/>
            <p:cNvGrpSpPr/>
            <p:nvPr/>
          </p:nvGrpSpPr>
          <p:grpSpPr>
            <a:xfrm>
              <a:off x="0" y="0"/>
              <a:ext cx="3238500" cy="4000500"/>
              <a:chOff x="0" y="0"/>
              <a:chExt cx="3238500" cy="4000500"/>
            </a:xfrm>
          </p:grpSpPr>
          <p:sp>
            <p:nvSpPr>
              <p:cNvPr id="467" name="Google Shape;467;p49"/>
              <p:cNvSpPr/>
              <p:nvPr/>
            </p:nvSpPr>
            <p:spPr>
              <a:xfrm>
                <a:off x="0" y="0"/>
                <a:ext cx="3238500" cy="4000500"/>
              </a:xfrm>
              <a:prstGeom prst="roundRect">
                <a:avLst>
                  <a:gd name="adj" fmla="val 441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49"/>
              <p:cNvSpPr txBox="1"/>
              <p:nvPr/>
            </p:nvSpPr>
            <p:spPr>
              <a:xfrm>
                <a:off x="190500" y="190500"/>
                <a:ext cx="2857500" cy="3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Login flow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User opens index.html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Picks a role from the dropdown (Admin / Teacher / Student)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Enters username and password (default: 123456)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app.js calls DataStore.authenticate()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On success, user is saved to sarpa_current_user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Browser redirects to dashboard.html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69" name="Google Shape;469;p49"/>
            <p:cNvGrpSpPr/>
            <p:nvPr/>
          </p:nvGrpSpPr>
          <p:grpSpPr>
            <a:xfrm>
              <a:off x="3524250" y="0"/>
              <a:ext cx="3238500" cy="4000650"/>
              <a:chOff x="0" y="0"/>
              <a:chExt cx="3238500" cy="4000650"/>
            </a:xfrm>
          </p:grpSpPr>
          <p:sp>
            <p:nvSpPr>
              <p:cNvPr id="470" name="Google Shape;470;p49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49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 credentials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• Username: admin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• Password: 123456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• Scope: full system control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472" name="Google Shape;472;p49"/>
              <p:cNvGrpSpPr/>
              <p:nvPr/>
            </p:nvGrpSpPr>
            <p:grpSpPr>
              <a:xfrm>
                <a:off x="0" y="1619250"/>
                <a:ext cx="3238500" cy="2381400"/>
                <a:chOff x="0" y="0"/>
                <a:chExt cx="3238500" cy="2381400"/>
              </a:xfrm>
            </p:grpSpPr>
            <p:sp>
              <p:nvSpPr>
                <p:cNvPr id="473" name="Google Shape;473;p49"/>
                <p:cNvSpPr/>
                <p:nvPr/>
              </p:nvSpPr>
              <p:spPr>
                <a:xfrm>
                  <a:off x="0" y="0"/>
                  <a:ext cx="3238500" cy="2381400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4" name="Google Shape;474;p49"/>
                <p:cNvSpPr txBox="1"/>
                <p:nvPr/>
              </p:nvSpPr>
              <p:spPr>
                <a:xfrm>
                  <a:off x="190500" y="190500"/>
                  <a:ext cx="2857500" cy="20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800" b="1">
                      <a:solidFill>
                        <a:srgbClr val="A5301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Teacher logins</a:t>
                  </a:r>
                  <a:endParaRPr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marL="0" lvl="0" indent="0" algn="l" rtl="0">
                    <a:spcBef>
                      <a:spcPts val="750"/>
                    </a:spcBef>
                    <a:spcAft>
                      <a:spcPts val="0"/>
                    </a:spcAft>
                    <a:buNone/>
                  </a:pPr>
                  <a:r>
                    <a:rPr lang="en-IN" sz="1100" b="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ds — Data Structures (CS201)</a:t>
                  </a:r>
                  <a:endParaRPr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100" b="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dbms — Database Management (CS202)</a:t>
                  </a:r>
                  <a:endParaRPr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100" b="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os — Operating Systems (CS203)</a:t>
                  </a:r>
                  <a:endParaRPr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100" b="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cn — Computer Networks (CS204)</a:t>
                  </a:r>
                  <a:endParaRPr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100" b="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se — Software Engineering (CS205)</a:t>
                  </a:r>
                  <a:endParaRPr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</p:grpSp>
        <p:grpSp>
          <p:nvGrpSpPr>
            <p:cNvPr id="475" name="Google Shape;475;p49"/>
            <p:cNvGrpSpPr/>
            <p:nvPr/>
          </p:nvGrpSpPr>
          <p:grpSpPr>
            <a:xfrm>
              <a:off x="7048500" y="0"/>
              <a:ext cx="3238500" cy="4000500"/>
              <a:chOff x="0" y="0"/>
              <a:chExt cx="3238500" cy="4000500"/>
            </a:xfrm>
          </p:grpSpPr>
          <p:sp>
            <p:nvSpPr>
              <p:cNvPr id="476" name="Google Shape;476;p49"/>
              <p:cNvSpPr/>
              <p:nvPr/>
            </p:nvSpPr>
            <p:spPr>
              <a:xfrm>
                <a:off x="0" y="0"/>
                <a:ext cx="3238500" cy="4000500"/>
              </a:xfrm>
              <a:prstGeom prst="roundRect">
                <a:avLst>
                  <a:gd name="adj" fmla="val 441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49"/>
              <p:cNvSpPr txBox="1"/>
              <p:nvPr/>
            </p:nvSpPr>
            <p:spPr>
              <a:xfrm>
                <a:off x="190500" y="190500"/>
                <a:ext cx="2857500" cy="3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8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Student logins</a:t>
                </a:r>
                <a:endParaRPr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Roll numbers CS2024001 → CS2024010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All students share password 123456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Each student is enrolled in all 5 courses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457200" lvl="0" indent="-3048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lang="en-IN" sz="12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Personal data is scoped to the logged-in user</a:t>
                </a:r>
                <a:endParaRPr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478" name="Google Shape;478;p49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Login &amp; Roles</a:t>
            </a:r>
            <a:endParaRPr sz="12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0"/>
          <p:cNvSpPr/>
          <p:nvPr/>
        </p:nvSpPr>
        <p:spPr>
          <a:xfrm rot="10800000" flipH="1">
            <a:off x="-4196" y="714370"/>
            <a:ext cx="1598100" cy="50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50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 Dashboard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control: users, courses, announcements, audit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85" name="Google Shape;485;p50"/>
          <p:cNvGrpSpPr/>
          <p:nvPr/>
        </p:nvGrpSpPr>
        <p:grpSpPr>
          <a:xfrm>
            <a:off x="952500" y="1714500"/>
            <a:ext cx="3238500" cy="1714500"/>
            <a:chOff x="0" y="0"/>
            <a:chExt cx="3238500" cy="1714500"/>
          </a:xfrm>
        </p:grpSpPr>
        <p:sp>
          <p:nvSpPr>
            <p:cNvPr id="486" name="Google Shape;486;p50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0"/>
            <p:cNvSpPr txBox="1"/>
            <p:nvPr/>
          </p:nvSpPr>
          <p:spPr>
            <a:xfrm>
              <a:off x="190500" y="190500"/>
              <a:ext cx="2857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95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Overview</a:t>
              </a:r>
              <a:endParaRPr sz="1395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Stat cards: teachers, students, today's marks, announcements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Bar chart: teacher distribution across 5 CS courses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Doughnut chart: system-wide statistics at a glance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88" name="Google Shape;488;p50"/>
          <p:cNvGrpSpPr/>
          <p:nvPr/>
        </p:nvGrpSpPr>
        <p:grpSpPr>
          <a:xfrm>
            <a:off x="4476750" y="1714500"/>
            <a:ext cx="3238500" cy="1714500"/>
            <a:chOff x="0" y="0"/>
            <a:chExt cx="3238500" cy="1714500"/>
          </a:xfrm>
        </p:grpSpPr>
        <p:sp>
          <p:nvSpPr>
            <p:cNvPr id="489" name="Google Shape;489;p50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0"/>
            <p:cNvSpPr txBox="1"/>
            <p:nvPr/>
          </p:nvSpPr>
          <p:spPr>
            <a:xfrm>
              <a:off x="190500" y="190500"/>
              <a:ext cx="2857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95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Manage Teachers</a:t>
              </a:r>
              <a:endParaRPr sz="1395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Full CRUD on teacher records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Assign a teacher to one of 5 CS courses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Cascade delete cleans up attendance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Searchable teacher table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91" name="Google Shape;491;p50"/>
          <p:cNvGrpSpPr/>
          <p:nvPr/>
        </p:nvGrpSpPr>
        <p:grpSpPr>
          <a:xfrm>
            <a:off x="8001000" y="1714500"/>
            <a:ext cx="3238500" cy="1714500"/>
            <a:chOff x="0" y="0"/>
            <a:chExt cx="3238500" cy="1714500"/>
          </a:xfrm>
        </p:grpSpPr>
        <p:sp>
          <p:nvSpPr>
            <p:cNvPr id="492" name="Google Shape;492;p50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0"/>
            <p:cNvSpPr txBox="1"/>
            <p:nvPr/>
          </p:nvSpPr>
          <p:spPr>
            <a:xfrm>
              <a:off x="190500" y="190500"/>
              <a:ext cx="2857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95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Manage Students</a:t>
              </a:r>
              <a:endParaRPr sz="1395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Add / edit / delete students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Multi-course enrollment via course picker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Fields: name, roll, email, batch, courses[]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87655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lang="en-IN" sz="93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Cascade delete on student removal</a:t>
              </a:r>
              <a:endParaRPr sz="93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94" name="Google Shape;494;p50"/>
          <p:cNvGrpSpPr/>
          <p:nvPr/>
        </p:nvGrpSpPr>
        <p:grpSpPr>
          <a:xfrm>
            <a:off x="952500" y="3619500"/>
            <a:ext cx="10287000" cy="1714500"/>
            <a:chOff x="0" y="0"/>
            <a:chExt cx="10287000" cy="1714500"/>
          </a:xfrm>
        </p:grpSpPr>
        <p:sp>
          <p:nvSpPr>
            <p:cNvPr id="495" name="Google Shape;495;p50"/>
            <p:cNvSpPr/>
            <p:nvPr/>
          </p:nvSpPr>
          <p:spPr>
            <a:xfrm>
              <a:off x="0" y="0"/>
              <a:ext cx="10287000" cy="17145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0"/>
            <p:cNvSpPr txBox="1"/>
            <p:nvPr/>
          </p:nvSpPr>
          <p:spPr>
            <a:xfrm>
              <a:off x="190500" y="190500"/>
              <a:ext cx="9906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System Tools</a:t>
              </a:r>
              <a:endParaRPr sz="18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30480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lang="en-IN"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Post announcements with author + timestamp</a:t>
              </a:r>
              <a:endParaRPr sz="12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lang="en-IN"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Audit log of every data change</a:t>
              </a:r>
              <a:endParaRPr sz="12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lang="en-IN"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Configurable min attendance % and late grace</a:t>
              </a:r>
              <a:endParaRPr sz="12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lang="en-IN" sz="12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One-click data reset from Settings</a:t>
              </a:r>
              <a:endParaRPr sz="12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7" name="Google Shape;497;p50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Admin Dashboard</a:t>
            </a:r>
            <a:endParaRPr sz="12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503" name="Google Shape;503;p51"/>
          <p:cNvSpPr/>
          <p:nvPr/>
        </p:nvSpPr>
        <p:spPr>
          <a:xfrm rot="10800000" flipH="1">
            <a:off x="-4200" y="714364"/>
            <a:ext cx="1598100" cy="50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294" y="56410"/>
                </a:moveTo>
                <a:lnTo>
                  <a:pt x="102097" y="2253"/>
                </a:lnTo>
                <a:cubicBezTo>
                  <a:pt x="101981" y="1869"/>
                  <a:pt x="101838" y="1513"/>
                  <a:pt x="101725" y="1130"/>
                </a:cubicBezTo>
                <a:cubicBezTo>
                  <a:pt x="101376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6" y="118462"/>
                  <a:pt x="101725" y="118462"/>
                </a:cubicBezTo>
                <a:cubicBezTo>
                  <a:pt x="101725" y="117333"/>
                  <a:pt x="102097" y="117333"/>
                  <a:pt x="102097" y="117333"/>
                </a:cubicBezTo>
                <a:lnTo>
                  <a:pt x="119294" y="63182"/>
                </a:lnTo>
                <a:cubicBezTo>
                  <a:pt x="120000" y="60922"/>
                  <a:pt x="120000" y="58669"/>
                  <a:pt x="119294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1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Teacher Dashboard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Course roster, attendance, and student analytics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05" name="Google Shape;505;p51"/>
          <p:cNvGrpSpPr/>
          <p:nvPr/>
        </p:nvGrpSpPr>
        <p:grpSpPr>
          <a:xfrm>
            <a:off x="952500" y="1905000"/>
            <a:ext cx="2381400" cy="4000500"/>
            <a:chOff x="0" y="0"/>
            <a:chExt cx="2381400" cy="4000500"/>
          </a:xfrm>
        </p:grpSpPr>
        <p:sp>
          <p:nvSpPr>
            <p:cNvPr id="506" name="Google Shape;506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My Course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View all enrolled students in assigned course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Enroll / remove students with dropdown picker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Student count badge in card header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08" name="Google Shape;508;p51"/>
          <p:cNvGrpSpPr/>
          <p:nvPr/>
        </p:nvGrpSpPr>
        <p:grpSpPr>
          <a:xfrm>
            <a:off x="3524250" y="1905000"/>
            <a:ext cx="2381400" cy="4000500"/>
            <a:chOff x="0" y="0"/>
            <a:chExt cx="2381400" cy="4000500"/>
          </a:xfrm>
        </p:grpSpPr>
        <p:sp>
          <p:nvSpPr>
            <p:cNvPr id="509" name="Google Shape;509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Mark Attendance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Calendar date picker for the session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Present / Absent / Late toggle cards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Mark All Present / Mark All Absent bulk actions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Auto-save to localStorage on every click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11" name="Google Shape;511;p51"/>
          <p:cNvGrpSpPr/>
          <p:nvPr/>
        </p:nvGrpSpPr>
        <p:grpSpPr>
          <a:xfrm>
            <a:off x="6096000" y="1905000"/>
            <a:ext cx="2381400" cy="4000500"/>
            <a:chOff x="0" y="0"/>
            <a:chExt cx="2381400" cy="4000500"/>
          </a:xfrm>
        </p:grpSpPr>
        <p:sp>
          <p:nvSpPr>
            <p:cNvPr id="512" name="Google Shape;512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View Attendance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Three filters: By Day, By Month, By Year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Calendar picker for precise date / month range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badges: green / red / amber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Tabular output with roll, name, date, status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14" name="Google Shape;514;p51"/>
          <p:cNvGrpSpPr/>
          <p:nvPr/>
        </p:nvGrpSpPr>
        <p:grpSpPr>
          <a:xfrm>
            <a:off x="8667750" y="1905000"/>
            <a:ext cx="2381400" cy="4000500"/>
            <a:chOff x="0" y="0"/>
            <a:chExt cx="2381400" cy="4000500"/>
          </a:xfrm>
        </p:grpSpPr>
        <p:sp>
          <p:nvSpPr>
            <p:cNvPr id="515" name="Google Shape;515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Student Analytics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Per-student summary table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Columns: Total, Present, Absent, Late, %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progress bars by threshold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Spot at-risk students in a glance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17" name="Google Shape;517;p51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Teacher Dashboard</a:t>
            </a:r>
            <a:endParaRPr sz="12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3" name="Google Shape;523;p52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524" name="Google Shape;524;p52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Student Dashboard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 attendance, course breakdown, charts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25" name="Google Shape;525;p52"/>
          <p:cNvGrpSpPr/>
          <p:nvPr/>
        </p:nvGrpSpPr>
        <p:grpSpPr>
          <a:xfrm>
            <a:off x="952500" y="1905000"/>
            <a:ext cx="2381400" cy="4000500"/>
            <a:chOff x="0" y="0"/>
            <a:chExt cx="2381400" cy="4000500"/>
          </a:xfrm>
        </p:grpSpPr>
        <p:sp>
          <p:nvSpPr>
            <p:cNvPr id="526" name="Google Shape;526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My Attendance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Personal log with day / month / year filters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Calendar picker for precise dates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status badges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Course name shown alongside each entry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28" name="Google Shape;528;p52"/>
          <p:cNvGrpSpPr/>
          <p:nvPr/>
        </p:nvGrpSpPr>
        <p:grpSpPr>
          <a:xfrm>
            <a:off x="3524250" y="1905000"/>
            <a:ext cx="2381400" cy="4000500"/>
            <a:chOff x="0" y="0"/>
            <a:chExt cx="2381400" cy="4000500"/>
          </a:xfrm>
        </p:grpSpPr>
        <p:sp>
          <p:nvSpPr>
            <p:cNvPr id="529" name="Google Shape;529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Course Breakdown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Overall attendance % with progress bar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Stats per CS course: total, present, absent, late, %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bars for instant assessment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Covers DS, DBMS, OS, CN, SE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1" name="Google Shape;531;p52"/>
          <p:cNvGrpSpPr/>
          <p:nvPr/>
        </p:nvGrpSpPr>
        <p:grpSpPr>
          <a:xfrm>
            <a:off x="6096000" y="1905000"/>
            <a:ext cx="2381400" cy="4000500"/>
            <a:chOff x="0" y="0"/>
            <a:chExt cx="2381400" cy="4000500"/>
          </a:xfrm>
        </p:grpSpPr>
        <p:sp>
          <p:nvSpPr>
            <p:cNvPr id="532" name="Google Shape;532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Charts (4 types)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Pie: overall present / absent / late split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Line: monthly attendance trend over semester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Bar: course-wise attendance % comparison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Doughnut: per-course proportional breakdown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4" name="Google Shape;534;p52"/>
          <p:cNvGrpSpPr/>
          <p:nvPr/>
        </p:nvGrpSpPr>
        <p:grpSpPr>
          <a:xfrm>
            <a:off x="8667750" y="1905000"/>
            <a:ext cx="2381400" cy="4000500"/>
            <a:chOff x="0" y="0"/>
            <a:chExt cx="2381400" cy="4000500"/>
          </a:xfrm>
        </p:grpSpPr>
        <p:sp>
          <p:nvSpPr>
            <p:cNvPr id="535" name="Google Shape;535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Overview Stats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Stat cards: overall %, present, absent, courses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Personal pie chart of attendance distribution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Monthly line chart of attendance trend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Auto-calculated across all enrolled courses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37" name="Google Shape;537;p52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Student Dashboard</a:t>
            </a:r>
            <a:endParaRPr sz="12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3"/>
          <p:cNvSpPr/>
          <p:nvPr/>
        </p:nvSpPr>
        <p:spPr>
          <a:xfrm rot="10800000" flipH="1">
            <a:off x="-4189" y="714372"/>
            <a:ext cx="1588529" cy="50730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3" name="Google Shape;543;p5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544" name="Google Shape;544;p53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&amp; Visual Design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Chart.js brings the data to life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45" name="Google Shape;545;p53"/>
          <p:cNvGrpSpPr/>
          <p:nvPr/>
        </p:nvGrpSpPr>
        <p:grpSpPr>
          <a:xfrm>
            <a:off x="952500" y="1905000"/>
            <a:ext cx="2381400" cy="4000500"/>
            <a:chOff x="0" y="0"/>
            <a:chExt cx="2381400" cy="4000500"/>
          </a:xfrm>
        </p:grpSpPr>
        <p:sp>
          <p:nvSpPr>
            <p:cNvPr id="546" name="Google Shape;546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▌▌▌▌</a:t>
              </a:r>
              <a:endParaRPr sz="24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Bar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Monthly + course-wise attendance %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48" name="Google Shape;548;p53"/>
          <p:cNvGrpSpPr/>
          <p:nvPr/>
        </p:nvGrpSpPr>
        <p:grpSpPr>
          <a:xfrm>
            <a:off x="3524250" y="1905000"/>
            <a:ext cx="2381400" cy="4000500"/>
            <a:chOff x="0" y="0"/>
            <a:chExt cx="2381400" cy="4000500"/>
          </a:xfrm>
        </p:grpSpPr>
        <p:sp>
          <p:nvSpPr>
            <p:cNvPr id="549" name="Google Shape;549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∿∿∿</a:t>
              </a:r>
              <a:endParaRPr sz="24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Line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Attendance progression over time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51" name="Google Shape;551;p53"/>
          <p:cNvGrpSpPr/>
          <p:nvPr/>
        </p:nvGrpSpPr>
        <p:grpSpPr>
          <a:xfrm>
            <a:off x="6096000" y="1905000"/>
            <a:ext cx="2381400" cy="4000500"/>
            <a:chOff x="0" y="0"/>
            <a:chExt cx="2381400" cy="4000500"/>
          </a:xfrm>
        </p:grpSpPr>
        <p:sp>
          <p:nvSpPr>
            <p:cNvPr id="552" name="Google Shape;552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◐◑◒</a:t>
              </a:r>
              <a:endParaRPr sz="24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Pie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Present / Absent / Late split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54" name="Google Shape;554;p53"/>
          <p:cNvGrpSpPr/>
          <p:nvPr/>
        </p:nvGrpSpPr>
        <p:grpSpPr>
          <a:xfrm>
            <a:off x="8667750" y="1905000"/>
            <a:ext cx="2381400" cy="4000500"/>
            <a:chOff x="0" y="0"/>
            <a:chExt cx="2381400" cy="4000500"/>
          </a:xfrm>
        </p:grpSpPr>
        <p:sp>
          <p:nvSpPr>
            <p:cNvPr id="555" name="Google Shape;555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◎</a:t>
              </a:r>
              <a:endParaRPr sz="24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Doughnut</a:t>
              </a:r>
              <a:endParaRPr sz="1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IN"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System stats + per-course split</a:t>
              </a:r>
              <a:endParaRPr sz="110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57" name="Google Shape;557;p53"/>
          <p:cNvSpPr txBox="1"/>
          <p:nvPr/>
        </p:nvSpPr>
        <p:spPr>
          <a:xfrm>
            <a:off x="952500" y="60960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 system:</a:t>
            </a:r>
            <a:r>
              <a:rPr lang="en-IN" sz="10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Palette: deep navy + coral accents + mint / amber / crimson status colors • Typography: Inter via Google Fonts • Theme: dark / light toggle saved to localStorage • Charts dynamically created and destroyed on every page switch • Responsive breakpoint at 768px stacks the sidebar and panels</a:t>
            </a:r>
            <a:endParaRPr sz="10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flipH="1">
            <a:off x="-4217" y="714300"/>
            <a:ext cx="1598100" cy="50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3" name="Google Shape;563;p54"/>
          <p:cNvGrpSpPr/>
          <p:nvPr/>
        </p:nvGrpSpPr>
        <p:grpSpPr>
          <a:xfrm>
            <a:off x="1762125" y="571500"/>
            <a:ext cx="9525000" cy="1143000"/>
            <a:chOff x="0" y="0"/>
            <a:chExt cx="9525000" cy="1143000"/>
          </a:xfrm>
        </p:grpSpPr>
        <p:sp>
          <p:nvSpPr>
            <p:cNvPr id="564" name="Google Shape;564;p54"/>
            <p:cNvSpPr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4"/>
            <p:cNvSpPr txBox="1"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2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Feature Highlights</a:t>
              </a:r>
              <a:endParaRPr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What makes the build complete</a:t>
              </a:r>
              <a:endParaRPr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66" name="Google Shape;566;p54"/>
          <p:cNvGrpSpPr/>
          <p:nvPr/>
        </p:nvGrpSpPr>
        <p:grpSpPr>
          <a:xfrm>
            <a:off x="952500" y="1905000"/>
            <a:ext cx="10096650" cy="3619500"/>
            <a:chOff x="0" y="0"/>
            <a:chExt cx="10096650" cy="3619500"/>
          </a:xfrm>
        </p:grpSpPr>
        <p:grpSp>
          <p:nvGrpSpPr>
            <p:cNvPr id="567" name="Google Shape;567;p54"/>
            <p:cNvGrpSpPr/>
            <p:nvPr/>
          </p:nvGrpSpPr>
          <p:grpSpPr>
            <a:xfrm>
              <a:off x="0" y="0"/>
              <a:ext cx="2381400" cy="1714500"/>
              <a:chOff x="0" y="0"/>
              <a:chExt cx="2381400" cy="1714500"/>
            </a:xfrm>
          </p:grpSpPr>
          <p:sp>
            <p:nvSpPr>
              <p:cNvPr id="568" name="Google Shape;568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Auth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Role-based login for 3 user types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0" name="Google Shape;570;p54"/>
            <p:cNvGrpSpPr/>
            <p:nvPr/>
          </p:nvGrpSpPr>
          <p:grpSpPr>
            <a:xfrm>
              <a:off x="2571750" y="0"/>
              <a:ext cx="2381400" cy="1714500"/>
              <a:chOff x="0" y="0"/>
              <a:chExt cx="2381400" cy="1714500"/>
            </a:xfrm>
          </p:grpSpPr>
          <p:sp>
            <p:nvSpPr>
              <p:cNvPr id="571" name="Google Shape;571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CRUD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 can add, edit, delete users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3" name="Google Shape;573;p54"/>
            <p:cNvGrpSpPr/>
            <p:nvPr/>
          </p:nvGrpSpPr>
          <p:grpSpPr>
            <a:xfrm>
              <a:off x="5143500" y="0"/>
              <a:ext cx="2381400" cy="1714500"/>
              <a:chOff x="0" y="0"/>
              <a:chExt cx="2381400" cy="1714500"/>
            </a:xfrm>
          </p:grpSpPr>
          <p:sp>
            <p:nvSpPr>
              <p:cNvPr id="574" name="Google Shape;574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Calendar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Native date pickers for all filters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6" name="Google Shape;576;p54"/>
            <p:cNvGrpSpPr/>
            <p:nvPr/>
          </p:nvGrpSpPr>
          <p:grpSpPr>
            <a:xfrm>
              <a:off x="7715250" y="0"/>
              <a:ext cx="2381400" cy="1714500"/>
              <a:chOff x="0" y="0"/>
              <a:chExt cx="2381400" cy="1714500"/>
            </a:xfrm>
          </p:grpSpPr>
          <p:sp>
            <p:nvSpPr>
              <p:cNvPr id="577" name="Google Shape;577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Progress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Color-coded bars for attendance %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9" name="Google Shape;579;p54"/>
            <p:cNvGrpSpPr/>
            <p:nvPr/>
          </p:nvGrpSpPr>
          <p:grpSpPr>
            <a:xfrm>
              <a:off x="0" y="1905000"/>
              <a:ext cx="2381400" cy="1714500"/>
              <a:chOff x="0" y="0"/>
              <a:chExt cx="2381400" cy="1714500"/>
            </a:xfrm>
          </p:grpSpPr>
          <p:sp>
            <p:nvSpPr>
              <p:cNvPr id="580" name="Google Shape;580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Audit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Every change is logged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82" name="Google Shape;582;p54"/>
            <p:cNvGrpSpPr/>
            <p:nvPr/>
          </p:nvGrpSpPr>
          <p:grpSpPr>
            <a:xfrm>
              <a:off x="2571750" y="1905000"/>
              <a:ext cx="2381400" cy="1714500"/>
              <a:chOff x="0" y="0"/>
              <a:chExt cx="2381400" cy="1714500"/>
            </a:xfrm>
          </p:grpSpPr>
          <p:sp>
            <p:nvSpPr>
              <p:cNvPr id="583" name="Google Shape;583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Responsive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Mobile-friendly below 768px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85" name="Google Shape;585;p54"/>
            <p:cNvGrpSpPr/>
            <p:nvPr/>
          </p:nvGrpSpPr>
          <p:grpSpPr>
            <a:xfrm>
              <a:off x="5143500" y="1905000"/>
              <a:ext cx="2381400" cy="1714500"/>
              <a:chOff x="0" y="0"/>
              <a:chExt cx="2381400" cy="1714500"/>
            </a:xfrm>
          </p:grpSpPr>
          <p:sp>
            <p:nvSpPr>
              <p:cNvPr id="586" name="Google Shape;586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Theme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Dark / light mode toggle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88" name="Google Shape;588;p54"/>
            <p:cNvGrpSpPr/>
            <p:nvPr/>
          </p:nvGrpSpPr>
          <p:grpSpPr>
            <a:xfrm>
              <a:off x="7715250" y="1905000"/>
              <a:ext cx="2381400" cy="1714500"/>
              <a:chOff x="0" y="0"/>
              <a:chExt cx="2381400" cy="1714500"/>
            </a:xfrm>
          </p:grpSpPr>
          <p:sp>
            <p:nvSpPr>
              <p:cNvPr id="589" name="Google Shape;589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Seeded Data</a:t>
                </a:r>
                <a:endParaRPr sz="1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100" b="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750+ records pre-loaded</a:t>
                </a:r>
                <a:endParaRPr sz="1100" b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591" name="Google Shape;591;p54"/>
          <p:cNvGrpSpPr/>
          <p:nvPr/>
        </p:nvGrpSpPr>
        <p:grpSpPr>
          <a:xfrm>
            <a:off x="952500" y="5905500"/>
            <a:ext cx="10287000" cy="762000"/>
            <a:chOff x="0" y="0"/>
            <a:chExt cx="10287000" cy="762000"/>
          </a:xfrm>
        </p:grpSpPr>
        <p:sp>
          <p:nvSpPr>
            <p:cNvPr id="592" name="Google Shape;592;p54"/>
            <p:cNvSpPr/>
            <p:nvPr/>
          </p:nvSpPr>
          <p:spPr>
            <a:xfrm>
              <a:off x="0" y="0"/>
              <a:ext cx="10287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4"/>
            <p:cNvSpPr txBox="1"/>
            <p:nvPr/>
          </p:nvSpPr>
          <p:spPr>
            <a:xfrm>
              <a:off x="0" y="0"/>
              <a:ext cx="1028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 b="1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PLANNED • QR attendance • Performance analyzer • Leave requests • PDF / Excel exports • Email alerts</a:t>
              </a:r>
              <a:endParaRPr sz="10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IN" sz="1000" b="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Why this matters: Self-contained demo — no server, no setup, no signup. Open the HTML and it works.</a:t>
              </a:r>
              <a:endParaRPr sz="10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94" name="Google Shape;594;p54"/>
          <p:cNvSpPr txBox="1">
            <a:spLocks noGrp="1"/>
          </p:cNvSpPr>
          <p:nvPr>
            <p:ph type="sldNum" idx="4294967295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5"/>
          <p:cNvSpPr/>
          <p:nvPr/>
        </p:nvSpPr>
        <p:spPr>
          <a:xfrm rot="10800000" flipH="1">
            <a:off x="-4196" y="714370"/>
            <a:ext cx="1598100" cy="50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55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Metrics</a:t>
            </a:r>
            <a:endParaRPr sz="32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build at a glance</a:t>
            </a:r>
            <a:endParaRPr sz="16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01" name="Google Shape;601;p55"/>
          <p:cNvGrpSpPr/>
          <p:nvPr/>
        </p:nvGrpSpPr>
        <p:grpSpPr>
          <a:xfrm>
            <a:off x="952500" y="2095500"/>
            <a:ext cx="10096650" cy="3619500"/>
            <a:chOff x="0" y="0"/>
            <a:chExt cx="10096650" cy="3619500"/>
          </a:xfrm>
        </p:grpSpPr>
        <p:grpSp>
          <p:nvGrpSpPr>
            <p:cNvPr id="602" name="Google Shape;602;p55"/>
            <p:cNvGrpSpPr/>
            <p:nvPr/>
          </p:nvGrpSpPr>
          <p:grpSpPr>
            <a:xfrm>
              <a:off x="0" y="0"/>
              <a:ext cx="2381400" cy="1714500"/>
              <a:chOff x="0" y="0"/>
              <a:chExt cx="2381400" cy="1714500"/>
            </a:xfrm>
          </p:grpSpPr>
          <p:sp>
            <p:nvSpPr>
              <p:cNvPr id="603" name="Google Shape;603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3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Role-based dashboards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05" name="Google Shape;605;p55"/>
            <p:cNvGrpSpPr/>
            <p:nvPr/>
          </p:nvGrpSpPr>
          <p:grpSpPr>
            <a:xfrm>
              <a:off x="2571750" y="0"/>
              <a:ext cx="2381400" cy="1714500"/>
              <a:chOff x="0" y="0"/>
              <a:chExt cx="2381400" cy="1714500"/>
            </a:xfrm>
          </p:grpSpPr>
          <p:sp>
            <p:nvSpPr>
              <p:cNvPr id="606" name="Google Shape;606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5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BTech CS courses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08" name="Google Shape;608;p55"/>
            <p:cNvGrpSpPr/>
            <p:nvPr/>
          </p:nvGrpSpPr>
          <p:grpSpPr>
            <a:xfrm>
              <a:off x="5143500" y="0"/>
              <a:ext cx="2381400" cy="1714500"/>
              <a:chOff x="0" y="0"/>
              <a:chExt cx="2381400" cy="1714500"/>
            </a:xfrm>
          </p:grpSpPr>
          <p:sp>
            <p:nvSpPr>
              <p:cNvPr id="609" name="Google Shape;609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10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Pre-loaded students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11" name="Google Shape;611;p55"/>
            <p:cNvGrpSpPr/>
            <p:nvPr/>
          </p:nvGrpSpPr>
          <p:grpSpPr>
            <a:xfrm>
              <a:off x="7715250" y="0"/>
              <a:ext cx="2381400" cy="1714500"/>
              <a:chOff x="0" y="0"/>
              <a:chExt cx="2381400" cy="1714500"/>
            </a:xfrm>
          </p:grpSpPr>
          <p:sp>
            <p:nvSpPr>
              <p:cNvPr id="612" name="Google Shape;612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750+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Sample attendance rows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14" name="Google Shape;614;p55"/>
            <p:cNvGrpSpPr/>
            <p:nvPr/>
          </p:nvGrpSpPr>
          <p:grpSpPr>
            <a:xfrm>
              <a:off x="0" y="1905000"/>
              <a:ext cx="2381400" cy="1714500"/>
              <a:chOff x="0" y="0"/>
              <a:chExt cx="2381400" cy="1714500"/>
            </a:xfrm>
          </p:grpSpPr>
          <p:sp>
            <p:nvSpPr>
              <p:cNvPr id="615" name="Google Shape;615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4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Chart.js chart types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17" name="Google Shape;617;p55"/>
            <p:cNvGrpSpPr/>
            <p:nvPr/>
          </p:nvGrpSpPr>
          <p:grpSpPr>
            <a:xfrm>
              <a:off x="2571750" y="1905000"/>
              <a:ext cx="2381400" cy="1714500"/>
              <a:chOff x="0" y="0"/>
              <a:chExt cx="2381400" cy="1714500"/>
            </a:xfrm>
          </p:grpSpPr>
          <p:sp>
            <p:nvSpPr>
              <p:cNvPr id="618" name="Google Shape;618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~2,200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Total lines of code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20" name="Google Shape;620;p55"/>
            <p:cNvGrpSpPr/>
            <p:nvPr/>
          </p:nvGrpSpPr>
          <p:grpSpPr>
            <a:xfrm>
              <a:off x="5143500" y="1905000"/>
              <a:ext cx="2381400" cy="1714500"/>
              <a:chOff x="0" y="0"/>
              <a:chExt cx="2381400" cy="1714500"/>
            </a:xfrm>
          </p:grpSpPr>
          <p:sp>
            <p:nvSpPr>
              <p:cNvPr id="621" name="Google Shape;621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External dependency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23" name="Google Shape;623;p55"/>
            <p:cNvGrpSpPr/>
            <p:nvPr/>
          </p:nvGrpSpPr>
          <p:grpSpPr>
            <a:xfrm>
              <a:off x="7715250" y="1905000"/>
              <a:ext cx="2381400" cy="1714500"/>
              <a:chOff x="0" y="0"/>
              <a:chExt cx="2381400" cy="1714500"/>
            </a:xfrm>
          </p:grpSpPr>
          <p:sp>
            <p:nvSpPr>
              <p:cNvPr id="624" name="Google Shape;624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</a:t>
                </a:r>
                <a:endParaRPr sz="36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Backend services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26" name="Google Shape;626;p55"/>
          <p:cNvSpPr txBox="1"/>
          <p:nvPr/>
        </p:nvSpPr>
        <p:spPr>
          <a:xfrm>
            <a:off x="952500" y="60960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Smart Attendance &amp; Performance Analyzer</a:t>
            </a:r>
            <a:endParaRPr sz="1000" b="1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7" name="Google Shape;627;p55"/>
          <p:cNvSpPr txBox="1">
            <a:spLocks noGrp="1"/>
          </p:cNvSpPr>
          <p:nvPr>
            <p:ph type="sldNum" idx="4294967295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6"/>
          <p:cNvSpPr/>
          <p:nvPr/>
        </p:nvSpPr>
        <p:spPr>
          <a:xfrm rot="10800000" flipH="1">
            <a:off x="-4200" y="714364"/>
            <a:ext cx="1598100" cy="50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56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 OF SHOWCASE</a:t>
            </a:r>
            <a:endParaRPr sz="36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 for your time and attention.</a:t>
            </a:r>
            <a:endParaRPr sz="1800" b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4" name="Google Shape;634;p56"/>
          <p:cNvSpPr txBox="1"/>
          <p:nvPr/>
        </p:nvSpPr>
        <p:spPr>
          <a:xfrm>
            <a:off x="1762125" y="1714500"/>
            <a:ext cx="8667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Questions, feedback, and ideas are welcome.</a:t>
            </a:r>
            <a:endParaRPr sz="2000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35" name="Google Shape;635;p56"/>
          <p:cNvGrpSpPr/>
          <p:nvPr/>
        </p:nvGrpSpPr>
        <p:grpSpPr>
          <a:xfrm>
            <a:off x="1762125" y="2381250"/>
            <a:ext cx="8667750" cy="2095500"/>
            <a:chOff x="0" y="0"/>
            <a:chExt cx="8667750" cy="2095500"/>
          </a:xfrm>
        </p:grpSpPr>
        <p:grpSp>
          <p:nvGrpSpPr>
            <p:cNvPr id="636" name="Google Shape;636;p56"/>
            <p:cNvGrpSpPr/>
            <p:nvPr/>
          </p:nvGrpSpPr>
          <p:grpSpPr>
            <a:xfrm>
              <a:off x="0" y="0"/>
              <a:ext cx="4191000" cy="952500"/>
              <a:chOff x="0" y="0"/>
              <a:chExt cx="4191000" cy="952500"/>
            </a:xfrm>
          </p:grpSpPr>
          <p:sp>
            <p:nvSpPr>
              <p:cNvPr id="637" name="Google Shape;637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 Login</a:t>
                </a:r>
                <a:endParaRPr sz="1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User: </a:t>
                </a:r>
                <a:r>
                  <a:rPr lang="en-IN" sz="1200" b="1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</a:t>
                </a: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 | Pass: </a:t>
                </a:r>
                <a:r>
                  <a:rPr lang="en-IN" sz="1200" b="1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123456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39" name="Google Shape;639;p56"/>
            <p:cNvGrpSpPr/>
            <p:nvPr/>
          </p:nvGrpSpPr>
          <p:grpSpPr>
            <a:xfrm>
              <a:off x="4476750" y="0"/>
              <a:ext cx="4191000" cy="952500"/>
              <a:chOff x="0" y="0"/>
              <a:chExt cx="4191000" cy="952500"/>
            </a:xfrm>
          </p:grpSpPr>
          <p:sp>
            <p:nvSpPr>
              <p:cNvPr id="640" name="Google Shape;640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Teacher Logins</a:t>
                </a:r>
                <a:endParaRPr sz="1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Courses: </a:t>
                </a:r>
                <a:r>
                  <a:rPr lang="en-IN" sz="1200" b="1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ds · dbms · os · cn · se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(Passwords default to 123456)</a:t>
                </a:r>
                <a:endParaRPr sz="11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42" name="Google Shape;642;p56"/>
            <p:cNvGrpSpPr/>
            <p:nvPr/>
          </p:nvGrpSpPr>
          <p:grpSpPr>
            <a:xfrm>
              <a:off x="0" y="1143000"/>
              <a:ext cx="4191000" cy="952500"/>
              <a:chOff x="0" y="0"/>
              <a:chExt cx="4191000" cy="952500"/>
            </a:xfrm>
          </p:grpSpPr>
          <p:sp>
            <p:nvSpPr>
              <p:cNvPr id="643" name="Google Shape;643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Student Logins</a:t>
                </a:r>
                <a:endParaRPr sz="1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ID Range: </a:t>
                </a:r>
                <a:r>
                  <a:rPr lang="en-IN" sz="1200" b="1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CS2024001 – CS2024010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45" name="Google Shape;645;p56"/>
            <p:cNvGrpSpPr/>
            <p:nvPr/>
          </p:nvGrpSpPr>
          <p:grpSpPr>
            <a:xfrm>
              <a:off x="4476750" y="1143000"/>
              <a:ext cx="4191000" cy="952500"/>
              <a:chOff x="0" y="0"/>
              <a:chExt cx="4191000" cy="952500"/>
            </a:xfrm>
          </p:grpSpPr>
          <p:sp>
            <p:nvSpPr>
              <p:cNvPr id="646" name="Google Shape;646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 b="1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System Defaults</a:t>
                </a:r>
                <a:endParaRPr sz="1400" b="1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Default password: </a:t>
                </a:r>
                <a:r>
                  <a:rPr lang="en-IN" sz="1200" b="1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123456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48" name="Google Shape;648;p56"/>
          <p:cNvSpPr txBox="1"/>
          <p:nvPr/>
        </p:nvSpPr>
        <p:spPr>
          <a:xfrm>
            <a:off x="1762125" y="6096000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• Smart Attendance &amp; Performance Analyzer • v1.0</a:t>
            </a:r>
            <a:endParaRPr sz="1000" b="1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9" name="Google Shape;649;p56"/>
          <p:cNvSpPr txBox="1">
            <a:spLocks noGrp="1"/>
          </p:cNvSpPr>
          <p:nvPr>
            <p:ph type="sldNum" idx="4294967295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7"/>
          <p:cNvSpPr txBox="1">
            <a:spLocks noGrp="1"/>
          </p:cNvSpPr>
          <p:nvPr>
            <p:ph type="sldNum" idx="12"/>
          </p:nvPr>
        </p:nvSpPr>
        <p:spPr>
          <a:xfrm>
            <a:off x="11222029" y="6338155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655" name="Google Shape;655;p57"/>
          <p:cNvSpPr/>
          <p:nvPr/>
        </p:nvSpPr>
        <p:spPr>
          <a:xfrm>
            <a:off x="5057618" y="2967335"/>
            <a:ext cx="36471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1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sp>
        <p:nvSpPr>
          <p:cNvPr id="656" name="Google Shape;656;p57"/>
          <p:cNvSpPr/>
          <p:nvPr/>
        </p:nvSpPr>
        <p:spPr>
          <a:xfrm>
            <a:off x="5310893" y="4262735"/>
            <a:ext cx="282000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0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Queries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PresentationFormat>Widescreen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Century Gothic</vt:lpstr>
      <vt:lpstr>Times New Roman</vt:lpstr>
      <vt:lpstr>Noto Sans Symbols</vt:lpstr>
      <vt:lpstr>Arial</vt:lpstr>
      <vt:lpstr>Courier New</vt:lpstr>
      <vt:lpstr>Wisp</vt:lpstr>
      <vt:lpstr>Wisp</vt:lpstr>
      <vt:lpstr>           Presentation on  Smart Attendance and Predictive Performance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Presentation on  Smart Attendance and Predictive Performance Analysis </dc:title>
  <cp:lastModifiedBy>vinayak kaushik</cp:lastModifiedBy>
  <cp:revision>1</cp:revision>
  <dcterms:modified xsi:type="dcterms:W3CDTF">2026-06-15T17:37:16Z</dcterms:modified>
</cp:coreProperties>
</file>